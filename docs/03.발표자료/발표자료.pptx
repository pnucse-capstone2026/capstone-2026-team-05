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0"/>
    </p:embeddedFont>
    <p:embeddedFont>
      <p:font typeface="Inter Bold" charset="1" panose="02000503000000020004"/>
      <p:regular r:id="rId21"/>
    </p:embeddedFont>
    <p:embeddedFont>
      <p:font typeface="Inter" charset="1" panose="0200050300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17540" y="-1604339"/>
            <a:ext cx="8283519" cy="82835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8102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72788" y="3371190"/>
            <a:ext cx="11774220" cy="1177422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81025" cap="sq">
              <a:solidFill>
                <a:srgbClr val="A78BF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>
            <a:off x="8903257" y="3760563"/>
            <a:ext cx="3472725" cy="2242860"/>
          </a:xfrm>
          <a:custGeom>
            <a:avLst/>
            <a:gdLst/>
            <a:ahLst/>
            <a:cxnLst/>
            <a:rect r="r" b="b" t="t" l="l"/>
            <a:pathLst>
              <a:path h="2242860" w="3472725">
                <a:moveTo>
                  <a:pt x="0" y="2242861"/>
                </a:moveTo>
                <a:quadBezTo>
                  <a:pt x="1291444" y="432543"/>
                  <a:pt x="3472725" y="0"/>
                </a:quadBezTo>
              </a:path>
            </a:pathLst>
          </a:custGeom>
          <a:ln cap="rnd" w="581025">
            <a:gradFill>
              <a:gsLst>
                <a:gs pos="0">
                  <a:srgbClr val="6D28D9">
                    <a:alpha val="100000"/>
                  </a:srgbClr>
                </a:gs>
                <a:gs pos="100000">
                  <a:srgbClr val="A78BF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>
            <a:off x="7036304" y="6679180"/>
            <a:ext cx="536483" cy="2579120"/>
          </a:xfrm>
          <a:custGeom>
            <a:avLst/>
            <a:gdLst/>
            <a:ahLst/>
            <a:cxnLst/>
            <a:rect r="r" b="b" t="t" l="l"/>
            <a:pathLst>
              <a:path h="2579120" w="536483">
                <a:moveTo>
                  <a:pt x="0" y="2579120"/>
                </a:moveTo>
                <a:quadBezTo>
                  <a:pt x="17509" y="1113901"/>
                  <a:pt x="536484" y="0"/>
                </a:quadBezTo>
              </a:path>
            </a:pathLst>
          </a:custGeom>
          <a:ln cap="rnd" w="581025">
            <a:solidFill>
              <a:srgbClr val="A78B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649923" y="5400481"/>
            <a:ext cx="5903947" cy="4427960"/>
          </a:xfrm>
          <a:custGeom>
            <a:avLst/>
            <a:gdLst/>
            <a:ahLst/>
            <a:cxnLst/>
            <a:rect r="r" b="b" t="t" l="l"/>
            <a:pathLst>
              <a:path h="4427960" w="5903947">
                <a:moveTo>
                  <a:pt x="0" y="0"/>
                </a:moveTo>
                <a:lnTo>
                  <a:pt x="5903947" y="0"/>
                </a:lnTo>
                <a:lnTo>
                  <a:pt x="5903947" y="4427960"/>
                </a:lnTo>
                <a:lnTo>
                  <a:pt x="0" y="4427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363814"/>
            <a:ext cx="10881807" cy="178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What Biomedical Information Helps Predict Drug Interactions?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5927" y="3949506"/>
            <a:ext cx="8811475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6D28D9"/>
                </a:solidFill>
                <a:latin typeface="Inter Bold"/>
                <a:ea typeface="Inter Bold"/>
                <a:cs typeface="Inter Bold"/>
                <a:sym typeface="Inter Bold"/>
              </a:rPr>
              <a:t>Effect of Biomedical Knowledge Graph Composition on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6D28D9"/>
                </a:solidFill>
                <a:latin typeface="Inter Bold"/>
                <a:ea typeface="Inter Bold"/>
                <a:cs typeface="Inter Bold"/>
                <a:sym typeface="Inter Bold"/>
              </a:rPr>
              <a:t>R-GCN-Based Drug–Drug Interaction Prediction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217586"/>
            <a:ext cx="4262458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Tea</a:t>
            </a:r>
            <a:r>
              <a:rPr lang="en-US" sz="2499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m CHEERS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Pusan National University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539391"/>
            <a:ext cx="5440903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BYAMBASUREN TUVSHINJARGAL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GALBADRAKH BUYANDELGER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BAVUUJAV DELGERBAYAR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10840"/>
            <a:ext cx="18288000" cy="9865320"/>
          </a:xfrm>
          <a:custGeom>
            <a:avLst/>
            <a:gdLst/>
            <a:ahLst/>
            <a:cxnLst/>
            <a:rect r="r" b="b" t="t" l="l"/>
            <a:pathLst>
              <a:path h="9865320" w="18288000">
                <a:moveTo>
                  <a:pt x="0" y="0"/>
                </a:moveTo>
                <a:lnTo>
                  <a:pt x="18288000" y="0"/>
                </a:lnTo>
                <a:lnTo>
                  <a:pt x="18288000" y="9865320"/>
                </a:lnTo>
                <a:lnTo>
                  <a:pt x="0" y="9865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" t="0" r="-64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70520">
            <a:off x="5085077" y="4664907"/>
            <a:ext cx="8066590" cy="2291056"/>
            <a:chOff x="0" y="0"/>
            <a:chExt cx="1417503" cy="4025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7503" cy="402596"/>
            </a:xfrm>
            <a:custGeom>
              <a:avLst/>
              <a:gdLst/>
              <a:ahLst/>
              <a:cxnLst/>
              <a:rect r="r" b="b" t="t" l="l"/>
              <a:pathLst>
                <a:path h="402596" w="1417503">
                  <a:moveTo>
                    <a:pt x="1214303" y="0"/>
                  </a:moveTo>
                  <a:cubicBezTo>
                    <a:pt x="1326527" y="0"/>
                    <a:pt x="1417503" y="90124"/>
                    <a:pt x="1417503" y="201298"/>
                  </a:cubicBezTo>
                  <a:cubicBezTo>
                    <a:pt x="1417503" y="312472"/>
                    <a:pt x="1326527" y="402596"/>
                    <a:pt x="1214303" y="402596"/>
                  </a:cubicBezTo>
                  <a:lnTo>
                    <a:pt x="203200" y="402596"/>
                  </a:lnTo>
                  <a:cubicBezTo>
                    <a:pt x="90976" y="402596"/>
                    <a:pt x="0" y="312472"/>
                    <a:pt x="0" y="201298"/>
                  </a:cubicBezTo>
                  <a:cubicBezTo>
                    <a:pt x="0" y="9012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17503" cy="440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8033996">
            <a:off x="5026836" y="4664907"/>
            <a:ext cx="8234328" cy="2291056"/>
            <a:chOff x="0" y="0"/>
            <a:chExt cx="1446978" cy="4025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46978" cy="402596"/>
            </a:xfrm>
            <a:custGeom>
              <a:avLst/>
              <a:gdLst/>
              <a:ahLst/>
              <a:cxnLst/>
              <a:rect r="r" b="b" t="t" l="l"/>
              <a:pathLst>
                <a:path h="402596" w="1446978">
                  <a:moveTo>
                    <a:pt x="1243778" y="0"/>
                  </a:moveTo>
                  <a:cubicBezTo>
                    <a:pt x="1356003" y="0"/>
                    <a:pt x="1446978" y="90124"/>
                    <a:pt x="1446978" y="201298"/>
                  </a:cubicBezTo>
                  <a:cubicBezTo>
                    <a:pt x="1446978" y="312472"/>
                    <a:pt x="1356003" y="402596"/>
                    <a:pt x="1243778" y="402596"/>
                  </a:cubicBezTo>
                  <a:lnTo>
                    <a:pt x="203200" y="402596"/>
                  </a:lnTo>
                  <a:cubicBezTo>
                    <a:pt x="90976" y="402596"/>
                    <a:pt x="0" y="312472"/>
                    <a:pt x="0" y="201298"/>
                  </a:cubicBezTo>
                  <a:cubicBezTo>
                    <a:pt x="0" y="9012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46978" cy="440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37155" y="4181643"/>
            <a:ext cx="3162434" cy="3257584"/>
            <a:chOff x="0" y="0"/>
            <a:chExt cx="663721" cy="6836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3721" cy="683691"/>
            </a:xfrm>
            <a:custGeom>
              <a:avLst/>
              <a:gdLst/>
              <a:ahLst/>
              <a:cxnLst/>
              <a:rect r="r" b="b" t="t" l="l"/>
              <a:pathLst>
                <a:path h="683691" w="663721">
                  <a:moveTo>
                    <a:pt x="331860" y="0"/>
                  </a:moveTo>
                  <a:lnTo>
                    <a:pt x="663721" y="341845"/>
                  </a:lnTo>
                  <a:lnTo>
                    <a:pt x="331860" y="683691"/>
                  </a:lnTo>
                  <a:lnTo>
                    <a:pt x="0" y="341845"/>
                  </a:lnTo>
                  <a:lnTo>
                    <a:pt x="331860" y="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56170" y="111978"/>
              <a:ext cx="351382" cy="421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798531" y="3337062"/>
            <a:ext cx="738624" cy="844581"/>
          </a:xfrm>
          <a:custGeom>
            <a:avLst/>
            <a:gdLst/>
            <a:ahLst/>
            <a:cxnLst/>
            <a:rect r="r" b="b" t="t" l="l"/>
            <a:pathLst>
              <a:path h="844581" w="738624">
                <a:moveTo>
                  <a:pt x="0" y="0"/>
                </a:moveTo>
                <a:lnTo>
                  <a:pt x="738624" y="0"/>
                </a:lnTo>
                <a:lnTo>
                  <a:pt x="738624" y="844581"/>
                </a:lnTo>
                <a:lnTo>
                  <a:pt x="0" y="8445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691901" y="7439228"/>
            <a:ext cx="951884" cy="844581"/>
          </a:xfrm>
          <a:custGeom>
            <a:avLst/>
            <a:gdLst/>
            <a:ahLst/>
            <a:cxnLst/>
            <a:rect r="r" b="b" t="t" l="l"/>
            <a:pathLst>
              <a:path h="844581" w="951884">
                <a:moveTo>
                  <a:pt x="0" y="0"/>
                </a:moveTo>
                <a:lnTo>
                  <a:pt x="951884" y="0"/>
                </a:lnTo>
                <a:lnTo>
                  <a:pt x="951884" y="844581"/>
                </a:lnTo>
                <a:lnTo>
                  <a:pt x="0" y="8445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699589" y="3337062"/>
            <a:ext cx="670912" cy="788465"/>
          </a:xfrm>
          <a:custGeom>
            <a:avLst/>
            <a:gdLst/>
            <a:ahLst/>
            <a:cxnLst/>
            <a:rect r="r" b="b" t="t" l="l"/>
            <a:pathLst>
              <a:path h="788465" w="670912">
                <a:moveTo>
                  <a:pt x="0" y="0"/>
                </a:moveTo>
                <a:lnTo>
                  <a:pt x="670913" y="0"/>
                </a:lnTo>
                <a:lnTo>
                  <a:pt x="670913" y="788465"/>
                </a:lnTo>
                <a:lnTo>
                  <a:pt x="0" y="7884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602701" y="7144991"/>
            <a:ext cx="767801" cy="844581"/>
          </a:xfrm>
          <a:custGeom>
            <a:avLst/>
            <a:gdLst/>
            <a:ahLst/>
            <a:cxnLst/>
            <a:rect r="r" b="b" t="t" l="l"/>
            <a:pathLst>
              <a:path h="844581" w="767801">
                <a:moveTo>
                  <a:pt x="0" y="0"/>
                </a:moveTo>
                <a:lnTo>
                  <a:pt x="767801" y="0"/>
                </a:lnTo>
                <a:lnTo>
                  <a:pt x="767801" y="844581"/>
                </a:lnTo>
                <a:lnTo>
                  <a:pt x="0" y="844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838200"/>
            <a:ext cx="11100463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Our Research Question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222565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The Problem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7106891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Our Question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24258" y="2980465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Our Approach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24258" y="7106891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Our Goal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911631"/>
            <a:ext cx="4262458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Drug interactions are difficult to study because biomedical knowledge is large and incomplete.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7795957"/>
            <a:ext cx="4262458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What kind of biomedical information helps improve drug–drug interaction prediction?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24258" y="3669531"/>
            <a:ext cx="4262458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Compare four knowledge graphs while keeping the same model and evaluation setup.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24258" y="7795957"/>
            <a:ext cx="4262458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Measure whether gene/protein and disease context help the AI rank possible DDI links.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0724" y="3447877"/>
            <a:ext cx="3909426" cy="494363"/>
            <a:chOff x="0" y="0"/>
            <a:chExt cx="3213816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13816" cy="406400"/>
            </a:xfrm>
            <a:custGeom>
              <a:avLst/>
              <a:gdLst/>
              <a:ahLst/>
              <a:cxnLst/>
              <a:rect r="r" b="b" t="t" l="l"/>
              <a:pathLst>
                <a:path h="406400" w="3213816">
                  <a:moveTo>
                    <a:pt x="3010616" y="0"/>
                  </a:moveTo>
                  <a:cubicBezTo>
                    <a:pt x="3122840" y="0"/>
                    <a:pt x="3213816" y="90976"/>
                    <a:pt x="3213816" y="203200"/>
                  </a:cubicBezTo>
                  <a:cubicBezTo>
                    <a:pt x="3213816" y="315424"/>
                    <a:pt x="3122840" y="406400"/>
                    <a:pt x="30106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1381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58374" y="3447877"/>
            <a:ext cx="3909426" cy="494363"/>
            <a:chOff x="0" y="0"/>
            <a:chExt cx="3213816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13816" cy="406400"/>
            </a:xfrm>
            <a:custGeom>
              <a:avLst/>
              <a:gdLst/>
              <a:ahLst/>
              <a:cxnLst/>
              <a:rect r="r" b="b" t="t" l="l"/>
              <a:pathLst>
                <a:path h="406400" w="3213816">
                  <a:moveTo>
                    <a:pt x="3010616" y="0"/>
                  </a:moveTo>
                  <a:cubicBezTo>
                    <a:pt x="3122840" y="0"/>
                    <a:pt x="3213816" y="90976"/>
                    <a:pt x="3213816" y="203200"/>
                  </a:cubicBezTo>
                  <a:cubicBezTo>
                    <a:pt x="3213816" y="315424"/>
                    <a:pt x="3122840" y="406400"/>
                    <a:pt x="30106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1381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16024" y="3447877"/>
            <a:ext cx="3909426" cy="494363"/>
            <a:chOff x="0" y="0"/>
            <a:chExt cx="3213816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13816" cy="406400"/>
            </a:xfrm>
            <a:custGeom>
              <a:avLst/>
              <a:gdLst/>
              <a:ahLst/>
              <a:cxnLst/>
              <a:rect r="r" b="b" t="t" l="l"/>
              <a:pathLst>
                <a:path h="406400" w="3213816">
                  <a:moveTo>
                    <a:pt x="3010616" y="0"/>
                  </a:moveTo>
                  <a:cubicBezTo>
                    <a:pt x="3122840" y="0"/>
                    <a:pt x="3213816" y="90976"/>
                    <a:pt x="3213816" y="203200"/>
                  </a:cubicBezTo>
                  <a:cubicBezTo>
                    <a:pt x="3213816" y="315424"/>
                    <a:pt x="3122840" y="406400"/>
                    <a:pt x="30106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21381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77850" y="3447877"/>
            <a:ext cx="3909426" cy="494363"/>
            <a:chOff x="0" y="0"/>
            <a:chExt cx="3213816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13816" cy="406400"/>
            </a:xfrm>
            <a:custGeom>
              <a:avLst/>
              <a:gdLst/>
              <a:ahLst/>
              <a:cxnLst/>
              <a:rect r="r" b="b" t="t" l="l"/>
              <a:pathLst>
                <a:path h="406400" w="3213816">
                  <a:moveTo>
                    <a:pt x="3010616" y="0"/>
                  </a:moveTo>
                  <a:cubicBezTo>
                    <a:pt x="3122840" y="0"/>
                    <a:pt x="3213816" y="90976"/>
                    <a:pt x="3213816" y="203200"/>
                  </a:cubicBezTo>
                  <a:cubicBezTo>
                    <a:pt x="3213816" y="315424"/>
                    <a:pt x="3122840" y="406400"/>
                    <a:pt x="30106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D28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21381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838200"/>
            <a:ext cx="6879034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Study Setup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150665"/>
            <a:ext cx="3909426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1.34M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58374" y="4150665"/>
            <a:ext cx="3909426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4,278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20200" y="4150665"/>
            <a:ext cx="3909426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82026" y="4150665"/>
            <a:ext cx="3909426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763565"/>
            <a:ext cx="320824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DDI Pairs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58374" y="5763565"/>
            <a:ext cx="390942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Candidate Drugs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20200" y="5763565"/>
            <a:ext cx="3905250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Graph Variants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77850" y="5763565"/>
            <a:ext cx="3905250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Training Seeds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4712" y="6655023"/>
            <a:ext cx="3172231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1,336,314 unique undirected drug–drug interaction pairs from PrimeKG.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58374" y="6655023"/>
            <a:ext cx="3172231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The same candidate-drug population is used for ranking in every graph.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16024" y="6655023"/>
            <a:ext cx="3172231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G0, G1, G2 and G3 differ only in the biomedical context supplied to the model.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82026" y="6655023"/>
            <a:ext cx="3172231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Each graph is trained with seeds 42–46 to measure training variability.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7153" y="6928302"/>
            <a:ext cx="2329998" cy="232999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0" cap="sq">
              <a:solidFill>
                <a:srgbClr val="A78BF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17741" y="3006111"/>
            <a:ext cx="2329998" cy="232999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0" cap="sq">
              <a:solidFill>
                <a:srgbClr val="A78BF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090892" y="3160935"/>
            <a:ext cx="2329998" cy="232999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0" cap="sq">
              <a:solidFill>
                <a:srgbClr val="A78BF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94574" y="6767190"/>
            <a:ext cx="2329998" cy="232999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0" cap="sq">
              <a:solidFill>
                <a:srgbClr val="A78BFA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655357" y="7767708"/>
            <a:ext cx="473590" cy="651186"/>
          </a:xfrm>
          <a:custGeom>
            <a:avLst/>
            <a:gdLst/>
            <a:ahLst/>
            <a:cxnLst/>
            <a:rect r="r" b="b" t="t" l="l"/>
            <a:pathLst>
              <a:path h="651186" w="473590">
                <a:moveTo>
                  <a:pt x="0" y="0"/>
                </a:moveTo>
                <a:lnTo>
                  <a:pt x="473590" y="0"/>
                </a:lnTo>
                <a:lnTo>
                  <a:pt x="473590" y="651186"/>
                </a:lnTo>
                <a:lnTo>
                  <a:pt x="0" y="65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81187" y="3796498"/>
            <a:ext cx="604500" cy="673026"/>
          </a:xfrm>
          <a:custGeom>
            <a:avLst/>
            <a:gdLst/>
            <a:ahLst/>
            <a:cxnLst/>
            <a:rect r="r" b="b" t="t" l="l"/>
            <a:pathLst>
              <a:path h="673026" w="604500">
                <a:moveTo>
                  <a:pt x="0" y="0"/>
                </a:moveTo>
                <a:lnTo>
                  <a:pt x="604499" y="0"/>
                </a:lnTo>
                <a:lnTo>
                  <a:pt x="604499" y="673025"/>
                </a:lnTo>
                <a:lnTo>
                  <a:pt x="0" y="673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14271" y="7579916"/>
            <a:ext cx="690605" cy="673026"/>
          </a:xfrm>
          <a:custGeom>
            <a:avLst/>
            <a:gdLst/>
            <a:ahLst/>
            <a:cxnLst/>
            <a:rect r="r" b="b" t="t" l="l"/>
            <a:pathLst>
              <a:path h="673026" w="690605">
                <a:moveTo>
                  <a:pt x="0" y="0"/>
                </a:moveTo>
                <a:lnTo>
                  <a:pt x="690605" y="0"/>
                </a:lnTo>
                <a:lnTo>
                  <a:pt x="690605" y="673026"/>
                </a:lnTo>
                <a:lnTo>
                  <a:pt x="0" y="6730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961595" y="3989421"/>
            <a:ext cx="588592" cy="673026"/>
          </a:xfrm>
          <a:custGeom>
            <a:avLst/>
            <a:gdLst/>
            <a:ahLst/>
            <a:cxnLst/>
            <a:rect r="r" b="b" t="t" l="l"/>
            <a:pathLst>
              <a:path h="673026" w="588592">
                <a:moveTo>
                  <a:pt x="0" y="0"/>
                </a:moveTo>
                <a:lnTo>
                  <a:pt x="588592" y="0"/>
                </a:lnTo>
                <a:lnTo>
                  <a:pt x="588592" y="673026"/>
                </a:lnTo>
                <a:lnTo>
                  <a:pt x="0" y="6730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838200"/>
            <a:ext cx="12022087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Four Graph Variants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9619" y="3758398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G0 — DDI Only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62189" y="3758398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G1 — Gene / Protein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13330" y="6890202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G2 — Disease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43358" y="6729090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G3 — Combined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6086" y="4827413"/>
            <a:ext cx="3152131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Only drug–drug interaction edges.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98656" y="4827413"/>
            <a:ext cx="3152131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Adds Target, Enzyme, Transporter and Carrier relations.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49797" y="7959218"/>
            <a:ext cx="3152131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Adds Indication, Contraindication and Off-label Use.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79825" y="7969362"/>
            <a:ext cx="3152131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Combines both gene/protein and disease context.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192841"/>
            <a:ext cx="2300593" cy="290919"/>
            <a:chOff x="0" y="0"/>
            <a:chExt cx="3213816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13816" cy="406400"/>
            </a:xfrm>
            <a:custGeom>
              <a:avLst/>
              <a:gdLst/>
              <a:ahLst/>
              <a:cxnLst/>
              <a:rect r="r" b="b" t="t" l="l"/>
              <a:pathLst>
                <a:path h="406400" w="3213816">
                  <a:moveTo>
                    <a:pt x="3010616" y="0"/>
                  </a:moveTo>
                  <a:cubicBezTo>
                    <a:pt x="3122840" y="0"/>
                    <a:pt x="3213816" y="90976"/>
                    <a:pt x="3213816" y="203200"/>
                  </a:cubicBezTo>
                  <a:cubicBezTo>
                    <a:pt x="3213816" y="315424"/>
                    <a:pt x="3122840" y="406400"/>
                    <a:pt x="30106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D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1381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19990" y="5836458"/>
            <a:ext cx="2300593" cy="290919"/>
            <a:chOff x="0" y="0"/>
            <a:chExt cx="3213816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13816" cy="406400"/>
            </a:xfrm>
            <a:custGeom>
              <a:avLst/>
              <a:gdLst/>
              <a:ahLst/>
              <a:cxnLst/>
              <a:rect r="r" b="b" t="t" l="l"/>
              <a:pathLst>
                <a:path h="406400" w="3213816">
                  <a:moveTo>
                    <a:pt x="3010616" y="0"/>
                  </a:moveTo>
                  <a:cubicBezTo>
                    <a:pt x="3122840" y="0"/>
                    <a:pt x="3213816" y="90976"/>
                    <a:pt x="3213816" y="203200"/>
                  </a:cubicBezTo>
                  <a:cubicBezTo>
                    <a:pt x="3213816" y="315424"/>
                    <a:pt x="3122840" y="406400"/>
                    <a:pt x="30106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DD6F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1381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05277" y="4583725"/>
            <a:ext cx="2300593" cy="290919"/>
            <a:chOff x="0" y="0"/>
            <a:chExt cx="3213816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13816" cy="406400"/>
            </a:xfrm>
            <a:custGeom>
              <a:avLst/>
              <a:gdLst/>
              <a:ahLst/>
              <a:cxnLst/>
              <a:rect r="r" b="b" t="t" l="l"/>
              <a:pathLst>
                <a:path h="406400" w="3213816">
                  <a:moveTo>
                    <a:pt x="3010616" y="0"/>
                  </a:moveTo>
                  <a:cubicBezTo>
                    <a:pt x="3122840" y="0"/>
                    <a:pt x="3213816" y="90976"/>
                    <a:pt x="3213816" y="203200"/>
                  </a:cubicBezTo>
                  <a:cubicBezTo>
                    <a:pt x="3213816" y="315424"/>
                    <a:pt x="3122840" y="406400"/>
                    <a:pt x="30106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21381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46938" y="3382817"/>
            <a:ext cx="2300593" cy="290919"/>
            <a:chOff x="0" y="0"/>
            <a:chExt cx="3213816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13816" cy="406400"/>
            </a:xfrm>
            <a:custGeom>
              <a:avLst/>
              <a:gdLst/>
              <a:ahLst/>
              <a:cxnLst/>
              <a:rect r="r" b="b" t="t" l="l"/>
              <a:pathLst>
                <a:path h="406400" w="3213816">
                  <a:moveTo>
                    <a:pt x="3010616" y="0"/>
                  </a:moveTo>
                  <a:cubicBezTo>
                    <a:pt x="3122840" y="0"/>
                    <a:pt x="3213816" y="90976"/>
                    <a:pt x="3213816" y="203200"/>
                  </a:cubicBezTo>
                  <a:cubicBezTo>
                    <a:pt x="3213816" y="315424"/>
                    <a:pt x="3122840" y="406400"/>
                    <a:pt x="30106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21381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81854" y="2130084"/>
            <a:ext cx="2300593" cy="290919"/>
            <a:chOff x="0" y="0"/>
            <a:chExt cx="3213816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13816" cy="406400"/>
            </a:xfrm>
            <a:custGeom>
              <a:avLst/>
              <a:gdLst/>
              <a:ahLst/>
              <a:cxnLst/>
              <a:rect r="r" b="b" t="t" l="l"/>
              <a:pathLst>
                <a:path h="406400" w="3213816">
                  <a:moveTo>
                    <a:pt x="3010616" y="0"/>
                  </a:moveTo>
                  <a:cubicBezTo>
                    <a:pt x="3122840" y="0"/>
                    <a:pt x="3213816" y="90976"/>
                    <a:pt x="3213816" y="203200"/>
                  </a:cubicBezTo>
                  <a:cubicBezTo>
                    <a:pt x="3213816" y="315424"/>
                    <a:pt x="3122840" y="406400"/>
                    <a:pt x="30106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D28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21381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906095" y="4729185"/>
            <a:ext cx="528383" cy="762758"/>
          </a:xfrm>
          <a:custGeom>
            <a:avLst/>
            <a:gdLst/>
            <a:ahLst/>
            <a:cxnLst/>
            <a:rect r="r" b="b" t="t" l="l"/>
            <a:pathLst>
              <a:path h="762758" w="528383">
                <a:moveTo>
                  <a:pt x="0" y="0"/>
                </a:moveTo>
                <a:lnTo>
                  <a:pt x="528384" y="0"/>
                </a:lnTo>
                <a:lnTo>
                  <a:pt x="528384" y="762758"/>
                </a:lnTo>
                <a:lnTo>
                  <a:pt x="0" y="762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737791" y="3600072"/>
            <a:ext cx="635565" cy="699121"/>
          </a:xfrm>
          <a:custGeom>
            <a:avLst/>
            <a:gdLst/>
            <a:ahLst/>
            <a:cxnLst/>
            <a:rect r="r" b="b" t="t" l="l"/>
            <a:pathLst>
              <a:path h="699121" w="635565">
                <a:moveTo>
                  <a:pt x="0" y="0"/>
                </a:moveTo>
                <a:lnTo>
                  <a:pt x="635565" y="0"/>
                </a:lnTo>
                <a:lnTo>
                  <a:pt x="635565" y="699121"/>
                </a:lnTo>
                <a:lnTo>
                  <a:pt x="0" y="6991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93539" y="6180069"/>
            <a:ext cx="770916" cy="770916"/>
          </a:xfrm>
          <a:custGeom>
            <a:avLst/>
            <a:gdLst/>
            <a:ahLst/>
            <a:cxnLst/>
            <a:rect r="r" b="b" t="t" l="l"/>
            <a:pathLst>
              <a:path h="770916" w="770916">
                <a:moveTo>
                  <a:pt x="0" y="0"/>
                </a:moveTo>
                <a:lnTo>
                  <a:pt x="770916" y="0"/>
                </a:lnTo>
                <a:lnTo>
                  <a:pt x="770916" y="770917"/>
                </a:lnTo>
                <a:lnTo>
                  <a:pt x="0" y="770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686985" y="2510202"/>
            <a:ext cx="620500" cy="697904"/>
          </a:xfrm>
          <a:custGeom>
            <a:avLst/>
            <a:gdLst/>
            <a:ahLst/>
            <a:cxnLst/>
            <a:rect r="r" b="b" t="t" l="l"/>
            <a:pathLst>
              <a:path h="697904" w="620500">
                <a:moveTo>
                  <a:pt x="0" y="0"/>
                </a:moveTo>
                <a:lnTo>
                  <a:pt x="620499" y="0"/>
                </a:lnTo>
                <a:lnTo>
                  <a:pt x="620499" y="697903"/>
                </a:lnTo>
                <a:lnTo>
                  <a:pt x="0" y="6979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472003" y="1032826"/>
            <a:ext cx="566674" cy="840083"/>
          </a:xfrm>
          <a:custGeom>
            <a:avLst/>
            <a:gdLst/>
            <a:ahLst/>
            <a:cxnLst/>
            <a:rect r="r" b="b" t="t" l="l"/>
            <a:pathLst>
              <a:path h="840083" w="566674">
                <a:moveTo>
                  <a:pt x="0" y="0"/>
                </a:moveTo>
                <a:lnTo>
                  <a:pt x="566674" y="0"/>
                </a:lnTo>
                <a:lnTo>
                  <a:pt x="566674" y="840083"/>
                </a:lnTo>
                <a:lnTo>
                  <a:pt x="0" y="8400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777497"/>
            <a:ext cx="6879034" cy="248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How Does the Model Learn?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0571" y="7770636"/>
            <a:ext cx="2238723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Knowledge Graph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019990" y="6517903"/>
            <a:ext cx="362506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Node Embeddings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05277" y="5265170"/>
            <a:ext cx="362506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R-GCN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46938" y="4064262"/>
            <a:ext cx="362506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DDI Scoring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81854" y="2811529"/>
            <a:ext cx="362506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Ranking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0571" y="8567616"/>
            <a:ext cx="2644113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Drugs and biomedical entities are connected by typed relationships.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019990" y="7145216"/>
            <a:ext cx="2300593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Each node starts with a learned numerical representation.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05277" y="5892483"/>
            <a:ext cx="2684854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The R-GCN learns from different kinds of neighboring relationships.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46938" y="4691575"/>
            <a:ext cx="2934917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A symmetric decoder gives each possible drug pair a ranking score.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81854" y="3438842"/>
            <a:ext cx="3886705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The model ranks candidate drugs; higher-ranked true links are better.</a:t>
            </a:r>
          </a:p>
        </p:txBody>
      </p:sp>
      <p:sp>
        <p:nvSpPr>
          <p:cNvPr name="AutoShape 33" id="33"/>
          <p:cNvSpPr/>
          <p:nvPr/>
        </p:nvSpPr>
        <p:spPr>
          <a:xfrm flipV="true">
            <a:off x="9144000" y="5500101"/>
            <a:ext cx="8115300" cy="3777249"/>
          </a:xfrm>
          <a:prstGeom prst="line">
            <a:avLst/>
          </a:prstGeom>
          <a:ln cap="flat" w="38100">
            <a:solidFill>
              <a:srgbClr val="DDD6FE"/>
            </a:solidFill>
            <a:prstDash val="sysDash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95900">
            <a:off x="8026466" y="5721349"/>
            <a:ext cx="2831244" cy="1906756"/>
            <a:chOff x="0" y="0"/>
            <a:chExt cx="622300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44" y="0"/>
              <a:ext cx="605012" cy="419100"/>
            </a:xfrm>
            <a:custGeom>
              <a:avLst/>
              <a:gdLst/>
              <a:ahLst/>
              <a:cxnLst/>
              <a:rect r="r" b="b" t="t" l="l"/>
              <a:pathLst>
                <a:path h="419100" w="605012">
                  <a:moveTo>
                    <a:pt x="31134" y="0"/>
                  </a:moveTo>
                  <a:lnTo>
                    <a:pt x="573878" y="0"/>
                  </a:lnTo>
                  <a:cubicBezTo>
                    <a:pt x="583452" y="0"/>
                    <a:pt x="592494" y="4405"/>
                    <a:pt x="598395" y="11945"/>
                  </a:cubicBezTo>
                  <a:cubicBezTo>
                    <a:pt x="604296" y="19484"/>
                    <a:pt x="606400" y="29319"/>
                    <a:pt x="604100" y="38613"/>
                  </a:cubicBezTo>
                  <a:lnTo>
                    <a:pt x="519495" y="380487"/>
                  </a:lnTo>
                  <a:cubicBezTo>
                    <a:pt x="513882" y="403168"/>
                    <a:pt x="493527" y="419100"/>
                    <a:pt x="470161" y="419100"/>
                  </a:cubicBezTo>
                  <a:lnTo>
                    <a:pt x="134851" y="419100"/>
                  </a:lnTo>
                  <a:cubicBezTo>
                    <a:pt x="111485" y="419100"/>
                    <a:pt x="91130" y="403168"/>
                    <a:pt x="85517" y="380487"/>
                  </a:cubicBezTo>
                  <a:lnTo>
                    <a:pt x="912" y="38613"/>
                  </a:lnTo>
                  <a:cubicBezTo>
                    <a:pt x="-1388" y="29319"/>
                    <a:pt x="716" y="19484"/>
                    <a:pt x="6617" y="11945"/>
                  </a:cubicBezTo>
                  <a:cubicBezTo>
                    <a:pt x="12518" y="4405"/>
                    <a:pt x="21560" y="0"/>
                    <a:pt x="31134" y="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38100"/>
              <a:ext cx="3683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704148">
            <a:off x="10311208" y="6321236"/>
            <a:ext cx="2831244" cy="1906756"/>
            <a:chOff x="0" y="0"/>
            <a:chExt cx="622300" cy="41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644" y="0"/>
              <a:ext cx="605012" cy="419100"/>
            </a:xfrm>
            <a:custGeom>
              <a:avLst/>
              <a:gdLst/>
              <a:ahLst/>
              <a:cxnLst/>
              <a:rect r="r" b="b" t="t" l="l"/>
              <a:pathLst>
                <a:path h="419100" w="605012">
                  <a:moveTo>
                    <a:pt x="31134" y="0"/>
                  </a:moveTo>
                  <a:lnTo>
                    <a:pt x="573878" y="0"/>
                  </a:lnTo>
                  <a:cubicBezTo>
                    <a:pt x="583452" y="0"/>
                    <a:pt x="592494" y="4405"/>
                    <a:pt x="598395" y="11945"/>
                  </a:cubicBezTo>
                  <a:cubicBezTo>
                    <a:pt x="604296" y="19484"/>
                    <a:pt x="606400" y="29319"/>
                    <a:pt x="604100" y="38613"/>
                  </a:cubicBezTo>
                  <a:lnTo>
                    <a:pt x="519495" y="380487"/>
                  </a:lnTo>
                  <a:cubicBezTo>
                    <a:pt x="513882" y="403168"/>
                    <a:pt x="493527" y="419100"/>
                    <a:pt x="470161" y="419100"/>
                  </a:cubicBezTo>
                  <a:lnTo>
                    <a:pt x="134851" y="419100"/>
                  </a:lnTo>
                  <a:cubicBezTo>
                    <a:pt x="111485" y="419100"/>
                    <a:pt x="91130" y="403168"/>
                    <a:pt x="85517" y="380487"/>
                  </a:cubicBezTo>
                  <a:lnTo>
                    <a:pt x="912" y="38613"/>
                  </a:lnTo>
                  <a:cubicBezTo>
                    <a:pt x="-1388" y="29319"/>
                    <a:pt x="716" y="19484"/>
                    <a:pt x="6617" y="11945"/>
                  </a:cubicBezTo>
                  <a:cubicBezTo>
                    <a:pt x="12518" y="4405"/>
                    <a:pt x="21560" y="0"/>
                    <a:pt x="31134" y="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38100"/>
              <a:ext cx="3683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3408162">
            <a:off x="12110982" y="7861340"/>
            <a:ext cx="2831244" cy="1906756"/>
            <a:chOff x="0" y="0"/>
            <a:chExt cx="62230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644" y="0"/>
              <a:ext cx="605012" cy="419100"/>
            </a:xfrm>
            <a:custGeom>
              <a:avLst/>
              <a:gdLst/>
              <a:ahLst/>
              <a:cxnLst/>
              <a:rect r="r" b="b" t="t" l="l"/>
              <a:pathLst>
                <a:path h="419100" w="605012">
                  <a:moveTo>
                    <a:pt x="31134" y="0"/>
                  </a:moveTo>
                  <a:lnTo>
                    <a:pt x="573878" y="0"/>
                  </a:lnTo>
                  <a:cubicBezTo>
                    <a:pt x="583452" y="0"/>
                    <a:pt x="592494" y="4405"/>
                    <a:pt x="598395" y="11945"/>
                  </a:cubicBezTo>
                  <a:cubicBezTo>
                    <a:pt x="604296" y="19484"/>
                    <a:pt x="606400" y="29319"/>
                    <a:pt x="604100" y="38613"/>
                  </a:cubicBezTo>
                  <a:lnTo>
                    <a:pt x="519495" y="380487"/>
                  </a:lnTo>
                  <a:cubicBezTo>
                    <a:pt x="513882" y="403168"/>
                    <a:pt x="493527" y="419100"/>
                    <a:pt x="470161" y="419100"/>
                  </a:cubicBezTo>
                  <a:lnTo>
                    <a:pt x="134851" y="419100"/>
                  </a:lnTo>
                  <a:cubicBezTo>
                    <a:pt x="111485" y="419100"/>
                    <a:pt x="91130" y="403168"/>
                    <a:pt x="85517" y="380487"/>
                  </a:cubicBezTo>
                  <a:lnTo>
                    <a:pt x="912" y="38613"/>
                  </a:lnTo>
                  <a:cubicBezTo>
                    <a:pt x="-1388" y="29319"/>
                    <a:pt x="716" y="19484"/>
                    <a:pt x="6617" y="11945"/>
                  </a:cubicBezTo>
                  <a:cubicBezTo>
                    <a:pt x="12518" y="4405"/>
                    <a:pt x="21560" y="0"/>
                    <a:pt x="31134" y="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38100"/>
              <a:ext cx="3683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600063">
            <a:off x="5709492" y="6275944"/>
            <a:ext cx="2831244" cy="1906756"/>
            <a:chOff x="0" y="0"/>
            <a:chExt cx="622300" cy="419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644" y="0"/>
              <a:ext cx="605012" cy="419100"/>
            </a:xfrm>
            <a:custGeom>
              <a:avLst/>
              <a:gdLst/>
              <a:ahLst/>
              <a:cxnLst/>
              <a:rect r="r" b="b" t="t" l="l"/>
              <a:pathLst>
                <a:path h="419100" w="605012">
                  <a:moveTo>
                    <a:pt x="31134" y="0"/>
                  </a:moveTo>
                  <a:lnTo>
                    <a:pt x="573878" y="0"/>
                  </a:lnTo>
                  <a:cubicBezTo>
                    <a:pt x="583452" y="0"/>
                    <a:pt x="592494" y="4405"/>
                    <a:pt x="598395" y="11945"/>
                  </a:cubicBezTo>
                  <a:cubicBezTo>
                    <a:pt x="604296" y="19484"/>
                    <a:pt x="606400" y="29319"/>
                    <a:pt x="604100" y="38613"/>
                  </a:cubicBezTo>
                  <a:lnTo>
                    <a:pt x="519495" y="380487"/>
                  </a:lnTo>
                  <a:cubicBezTo>
                    <a:pt x="513882" y="403168"/>
                    <a:pt x="493527" y="419100"/>
                    <a:pt x="470161" y="419100"/>
                  </a:cubicBezTo>
                  <a:lnTo>
                    <a:pt x="134851" y="419100"/>
                  </a:lnTo>
                  <a:cubicBezTo>
                    <a:pt x="111485" y="419100"/>
                    <a:pt x="91130" y="403168"/>
                    <a:pt x="85517" y="380487"/>
                  </a:cubicBezTo>
                  <a:lnTo>
                    <a:pt x="912" y="38613"/>
                  </a:lnTo>
                  <a:cubicBezTo>
                    <a:pt x="-1388" y="29319"/>
                    <a:pt x="716" y="19484"/>
                    <a:pt x="6617" y="11945"/>
                  </a:cubicBezTo>
                  <a:cubicBezTo>
                    <a:pt x="12518" y="4405"/>
                    <a:pt x="21560" y="0"/>
                    <a:pt x="31134" y="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38100"/>
              <a:ext cx="3683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3285755">
            <a:off x="3897408" y="7823408"/>
            <a:ext cx="2831244" cy="1906756"/>
            <a:chOff x="0" y="0"/>
            <a:chExt cx="622300" cy="419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644" y="0"/>
              <a:ext cx="605012" cy="419100"/>
            </a:xfrm>
            <a:custGeom>
              <a:avLst/>
              <a:gdLst/>
              <a:ahLst/>
              <a:cxnLst/>
              <a:rect r="r" b="b" t="t" l="l"/>
              <a:pathLst>
                <a:path h="419100" w="605012">
                  <a:moveTo>
                    <a:pt x="31134" y="0"/>
                  </a:moveTo>
                  <a:lnTo>
                    <a:pt x="573878" y="0"/>
                  </a:lnTo>
                  <a:cubicBezTo>
                    <a:pt x="583452" y="0"/>
                    <a:pt x="592494" y="4405"/>
                    <a:pt x="598395" y="11945"/>
                  </a:cubicBezTo>
                  <a:cubicBezTo>
                    <a:pt x="604296" y="19484"/>
                    <a:pt x="606400" y="29319"/>
                    <a:pt x="604100" y="38613"/>
                  </a:cubicBezTo>
                  <a:lnTo>
                    <a:pt x="519495" y="380487"/>
                  </a:lnTo>
                  <a:cubicBezTo>
                    <a:pt x="513882" y="403168"/>
                    <a:pt x="493527" y="419100"/>
                    <a:pt x="470161" y="419100"/>
                  </a:cubicBezTo>
                  <a:lnTo>
                    <a:pt x="134851" y="419100"/>
                  </a:lnTo>
                  <a:cubicBezTo>
                    <a:pt x="111485" y="419100"/>
                    <a:pt x="91130" y="403168"/>
                    <a:pt x="85517" y="380487"/>
                  </a:cubicBezTo>
                  <a:lnTo>
                    <a:pt x="912" y="38613"/>
                  </a:lnTo>
                  <a:cubicBezTo>
                    <a:pt x="-1388" y="29319"/>
                    <a:pt x="716" y="19484"/>
                    <a:pt x="6617" y="11945"/>
                  </a:cubicBezTo>
                  <a:cubicBezTo>
                    <a:pt x="12518" y="4405"/>
                    <a:pt x="21560" y="0"/>
                    <a:pt x="31134" y="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38100"/>
              <a:ext cx="3683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007905" y="8525440"/>
            <a:ext cx="610250" cy="686375"/>
          </a:xfrm>
          <a:custGeom>
            <a:avLst/>
            <a:gdLst/>
            <a:ahLst/>
            <a:cxnLst/>
            <a:rect r="r" b="b" t="t" l="l"/>
            <a:pathLst>
              <a:path h="686375" w="610250">
                <a:moveTo>
                  <a:pt x="0" y="0"/>
                </a:moveTo>
                <a:lnTo>
                  <a:pt x="610250" y="0"/>
                </a:lnTo>
                <a:lnTo>
                  <a:pt x="610250" y="686375"/>
                </a:lnTo>
                <a:lnTo>
                  <a:pt x="0" y="686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908484" y="6819678"/>
            <a:ext cx="588592" cy="673026"/>
          </a:xfrm>
          <a:custGeom>
            <a:avLst/>
            <a:gdLst/>
            <a:ahLst/>
            <a:cxnLst/>
            <a:rect r="r" b="b" t="t" l="l"/>
            <a:pathLst>
              <a:path h="673026" w="588592">
                <a:moveTo>
                  <a:pt x="0" y="0"/>
                </a:moveTo>
                <a:lnTo>
                  <a:pt x="588592" y="0"/>
                </a:lnTo>
                <a:lnTo>
                  <a:pt x="588592" y="673025"/>
                </a:lnTo>
                <a:lnTo>
                  <a:pt x="0" y="673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070642" y="6362018"/>
            <a:ext cx="704878" cy="625419"/>
          </a:xfrm>
          <a:custGeom>
            <a:avLst/>
            <a:gdLst/>
            <a:ahLst/>
            <a:cxnLst/>
            <a:rect r="r" b="b" t="t" l="l"/>
            <a:pathLst>
              <a:path h="625419" w="704878">
                <a:moveTo>
                  <a:pt x="0" y="0"/>
                </a:moveTo>
                <a:lnTo>
                  <a:pt x="704878" y="0"/>
                </a:lnTo>
                <a:lnTo>
                  <a:pt x="704878" y="625419"/>
                </a:lnTo>
                <a:lnTo>
                  <a:pt x="0" y="625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388577" y="6775443"/>
            <a:ext cx="829352" cy="761496"/>
          </a:xfrm>
          <a:custGeom>
            <a:avLst/>
            <a:gdLst/>
            <a:ahLst/>
            <a:cxnLst/>
            <a:rect r="r" b="b" t="t" l="l"/>
            <a:pathLst>
              <a:path h="761496" w="829352">
                <a:moveTo>
                  <a:pt x="0" y="0"/>
                </a:moveTo>
                <a:lnTo>
                  <a:pt x="829351" y="0"/>
                </a:lnTo>
                <a:lnTo>
                  <a:pt x="829351" y="761495"/>
                </a:lnTo>
                <a:lnTo>
                  <a:pt x="0" y="7614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216095" y="8433598"/>
            <a:ext cx="778217" cy="778217"/>
          </a:xfrm>
          <a:custGeom>
            <a:avLst/>
            <a:gdLst/>
            <a:ahLst/>
            <a:cxnLst/>
            <a:rect r="r" b="b" t="t" l="l"/>
            <a:pathLst>
              <a:path h="778217" w="778217">
                <a:moveTo>
                  <a:pt x="0" y="0"/>
                </a:moveTo>
                <a:lnTo>
                  <a:pt x="778216" y="0"/>
                </a:lnTo>
                <a:lnTo>
                  <a:pt x="778216" y="778217"/>
                </a:lnTo>
                <a:lnTo>
                  <a:pt x="0" y="7782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838200"/>
            <a:ext cx="13217296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How We Evaluate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6093308"/>
            <a:ext cx="2834417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MRR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54131" y="3602641"/>
            <a:ext cx="3712512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Hits@1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67853" y="2604663"/>
            <a:ext cx="310037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Hits@5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79304" y="3227248"/>
            <a:ext cx="310037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Hits@10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94311" y="5528845"/>
            <a:ext cx="3610537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Paired Analysis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6720622"/>
            <a:ext cx="3100371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How high the correct drug appears on average.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54131" y="4229955"/>
            <a:ext cx="3100371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How often the correct drug is ranked first.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67853" y="3231977"/>
            <a:ext cx="3100371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How often the correct drug appears in the top 5.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79304" y="3854562"/>
            <a:ext cx="3100371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How often the correct drug appears in the top 10.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994311" y="6156158"/>
            <a:ext cx="3100371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We compare matched training seeds instead of relying on one run.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15024" y="3868756"/>
            <a:ext cx="1671527" cy="167152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5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6794" y="3868756"/>
            <a:ext cx="1671527" cy="167152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5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39121" y="3868756"/>
            <a:ext cx="1671527" cy="167152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5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701448" y="3868756"/>
            <a:ext cx="1671527" cy="167152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5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H="true" flipV="true">
            <a:off x="4881673" y="4704519"/>
            <a:ext cx="0" cy="4553781"/>
          </a:xfrm>
          <a:prstGeom prst="line">
            <a:avLst/>
          </a:prstGeom>
          <a:ln cap="flat" w="38100">
            <a:solidFill>
              <a:srgbClr val="DDD6F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5" id="15"/>
          <p:cNvSpPr/>
          <p:nvPr/>
        </p:nvSpPr>
        <p:spPr>
          <a:xfrm flipH="true" flipV="true">
            <a:off x="9163050" y="4704519"/>
            <a:ext cx="0" cy="4553781"/>
          </a:xfrm>
          <a:prstGeom prst="line">
            <a:avLst/>
          </a:prstGeom>
          <a:ln cap="flat" w="38100">
            <a:solidFill>
              <a:srgbClr val="DDD6F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6" id="16"/>
          <p:cNvSpPr/>
          <p:nvPr/>
        </p:nvSpPr>
        <p:spPr>
          <a:xfrm flipV="true">
            <a:off x="13422976" y="4704519"/>
            <a:ext cx="0" cy="4553781"/>
          </a:xfrm>
          <a:prstGeom prst="line">
            <a:avLst/>
          </a:prstGeom>
          <a:ln cap="flat" w="38100">
            <a:solidFill>
              <a:srgbClr val="DDD6F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6653176" y="4373888"/>
            <a:ext cx="718764" cy="661262"/>
          </a:xfrm>
          <a:custGeom>
            <a:avLst/>
            <a:gdLst/>
            <a:ahLst/>
            <a:cxnLst/>
            <a:rect r="r" b="b" t="t" l="l"/>
            <a:pathLst>
              <a:path h="661262" w="718764">
                <a:moveTo>
                  <a:pt x="0" y="0"/>
                </a:moveTo>
                <a:lnTo>
                  <a:pt x="718764" y="0"/>
                </a:lnTo>
                <a:lnTo>
                  <a:pt x="718764" y="661263"/>
                </a:lnTo>
                <a:lnTo>
                  <a:pt x="0" y="661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272254" y="4422596"/>
            <a:ext cx="578574" cy="563847"/>
          </a:xfrm>
          <a:custGeom>
            <a:avLst/>
            <a:gdLst/>
            <a:ahLst/>
            <a:cxnLst/>
            <a:rect r="r" b="b" t="t" l="l"/>
            <a:pathLst>
              <a:path h="563847" w="578574">
                <a:moveTo>
                  <a:pt x="0" y="0"/>
                </a:moveTo>
                <a:lnTo>
                  <a:pt x="578574" y="0"/>
                </a:lnTo>
                <a:lnTo>
                  <a:pt x="578574" y="563847"/>
                </a:lnTo>
                <a:lnTo>
                  <a:pt x="0" y="563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978736" y="4373888"/>
            <a:ext cx="628554" cy="612555"/>
          </a:xfrm>
          <a:custGeom>
            <a:avLst/>
            <a:gdLst/>
            <a:ahLst/>
            <a:cxnLst/>
            <a:rect r="r" b="b" t="t" l="l"/>
            <a:pathLst>
              <a:path h="612555" w="628554">
                <a:moveTo>
                  <a:pt x="0" y="0"/>
                </a:moveTo>
                <a:lnTo>
                  <a:pt x="628554" y="0"/>
                </a:lnTo>
                <a:lnTo>
                  <a:pt x="628554" y="612555"/>
                </a:lnTo>
                <a:lnTo>
                  <a:pt x="0" y="6125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432953" y="4373888"/>
            <a:ext cx="635670" cy="612555"/>
          </a:xfrm>
          <a:custGeom>
            <a:avLst/>
            <a:gdLst/>
            <a:ahLst/>
            <a:cxnLst/>
            <a:rect r="r" b="b" t="t" l="l"/>
            <a:pathLst>
              <a:path h="612555" w="635670">
                <a:moveTo>
                  <a:pt x="0" y="0"/>
                </a:moveTo>
                <a:lnTo>
                  <a:pt x="635670" y="0"/>
                </a:lnTo>
                <a:lnTo>
                  <a:pt x="635670" y="612555"/>
                </a:lnTo>
                <a:lnTo>
                  <a:pt x="0" y="612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838200"/>
            <a:ext cx="6879034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Main Results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9002" y="6353909"/>
            <a:ext cx="317223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G0 — DDI Only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48927" y="6353909"/>
            <a:ext cx="3172231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G1 — + Gene / Protein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30304" y="6353909"/>
            <a:ext cx="317223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G2 — + Disease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75426" y="6304910"/>
            <a:ext cx="317223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G3 — Combined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5986" y="7969362"/>
            <a:ext cx="317223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Mean MRR: 0.527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19319" y="7576284"/>
            <a:ext cx="3172231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Mean MRR: 0.531 — a small descriptive improvement.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30304" y="7576284"/>
            <a:ext cx="3172231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Mean MRR: 0.527 — disease context alone did not improve the baseline.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975426" y="7576284"/>
            <a:ext cx="3172231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Mean MRR: 0.534 — the highest average result.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28700" y="5286090"/>
            <a:ext cx="3246120" cy="579539"/>
            <a:chOff x="0" y="0"/>
            <a:chExt cx="2347468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7468" cy="419100"/>
            </a:xfrm>
            <a:custGeom>
              <a:avLst/>
              <a:gdLst/>
              <a:ahLst/>
              <a:cxnLst/>
              <a:rect r="r" b="b" t="t" l="l"/>
              <a:pathLst>
                <a:path h="419100" w="2347468">
                  <a:moveTo>
                    <a:pt x="19676" y="0"/>
                  </a:moveTo>
                  <a:lnTo>
                    <a:pt x="2095132" y="0"/>
                  </a:lnTo>
                  <a:cubicBezTo>
                    <a:pt x="2252537" y="0"/>
                    <a:pt x="2347468" y="93819"/>
                    <a:pt x="2347468" y="209550"/>
                  </a:cubicBezTo>
                  <a:cubicBezTo>
                    <a:pt x="2347468" y="325281"/>
                    <a:pt x="2252537" y="419100"/>
                    <a:pt x="2095132" y="419100"/>
                  </a:cubicBezTo>
                  <a:lnTo>
                    <a:pt x="19676" y="419100"/>
                  </a:lnTo>
                  <a:cubicBezTo>
                    <a:pt x="14458" y="419100"/>
                    <a:pt x="9453" y="417027"/>
                    <a:pt x="5763" y="413337"/>
                  </a:cubicBezTo>
                  <a:cubicBezTo>
                    <a:pt x="2073" y="409647"/>
                    <a:pt x="0" y="404642"/>
                    <a:pt x="0" y="399424"/>
                  </a:cubicBezTo>
                  <a:lnTo>
                    <a:pt x="0" y="19676"/>
                  </a:lnTo>
                  <a:cubicBezTo>
                    <a:pt x="0" y="14458"/>
                    <a:pt x="2073" y="9453"/>
                    <a:pt x="5763" y="5763"/>
                  </a:cubicBezTo>
                  <a:cubicBezTo>
                    <a:pt x="9453" y="2073"/>
                    <a:pt x="14458" y="0"/>
                    <a:pt x="19676" y="0"/>
                  </a:cubicBezTo>
                  <a:close/>
                </a:path>
              </a:pathLst>
            </a:custGeom>
            <a:solidFill>
              <a:srgbClr val="E9D5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" y="-38100"/>
              <a:ext cx="2118868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013180" y="5286090"/>
            <a:ext cx="3246120" cy="579539"/>
            <a:chOff x="0" y="0"/>
            <a:chExt cx="2347468" cy="41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7468" cy="419100"/>
            </a:xfrm>
            <a:custGeom>
              <a:avLst/>
              <a:gdLst/>
              <a:ahLst/>
              <a:cxnLst/>
              <a:rect r="r" b="b" t="t" l="l"/>
              <a:pathLst>
                <a:path h="419100" w="2347468">
                  <a:moveTo>
                    <a:pt x="19676" y="0"/>
                  </a:moveTo>
                  <a:lnTo>
                    <a:pt x="2095132" y="0"/>
                  </a:lnTo>
                  <a:cubicBezTo>
                    <a:pt x="2252537" y="0"/>
                    <a:pt x="2347468" y="93819"/>
                    <a:pt x="2347468" y="209550"/>
                  </a:cubicBezTo>
                  <a:cubicBezTo>
                    <a:pt x="2347468" y="325281"/>
                    <a:pt x="2252537" y="419100"/>
                    <a:pt x="2095132" y="419100"/>
                  </a:cubicBezTo>
                  <a:lnTo>
                    <a:pt x="19676" y="419100"/>
                  </a:lnTo>
                  <a:cubicBezTo>
                    <a:pt x="14458" y="419100"/>
                    <a:pt x="9453" y="417027"/>
                    <a:pt x="5763" y="413337"/>
                  </a:cubicBezTo>
                  <a:cubicBezTo>
                    <a:pt x="2073" y="409647"/>
                    <a:pt x="0" y="404642"/>
                    <a:pt x="0" y="399424"/>
                  </a:cubicBezTo>
                  <a:lnTo>
                    <a:pt x="0" y="19676"/>
                  </a:lnTo>
                  <a:cubicBezTo>
                    <a:pt x="0" y="14458"/>
                    <a:pt x="2073" y="9453"/>
                    <a:pt x="5763" y="5763"/>
                  </a:cubicBezTo>
                  <a:cubicBezTo>
                    <a:pt x="9453" y="2073"/>
                    <a:pt x="14458" y="0"/>
                    <a:pt x="19676" y="0"/>
                  </a:cubicBezTo>
                  <a:close/>
                </a:path>
              </a:pathLst>
            </a:custGeom>
            <a:solidFill>
              <a:srgbClr val="6D28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5400" y="-38100"/>
              <a:ext cx="2118868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74820" y="5286090"/>
            <a:ext cx="3246120" cy="579539"/>
            <a:chOff x="0" y="0"/>
            <a:chExt cx="2347468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7468" cy="419100"/>
            </a:xfrm>
            <a:custGeom>
              <a:avLst/>
              <a:gdLst/>
              <a:ahLst/>
              <a:cxnLst/>
              <a:rect r="r" b="b" t="t" l="l"/>
              <a:pathLst>
                <a:path h="419100" w="2347468">
                  <a:moveTo>
                    <a:pt x="18633" y="0"/>
                  </a:moveTo>
                  <a:lnTo>
                    <a:pt x="2328836" y="0"/>
                  </a:lnTo>
                  <a:cubicBezTo>
                    <a:pt x="2333777" y="0"/>
                    <a:pt x="2338517" y="1963"/>
                    <a:pt x="2342011" y="5457"/>
                  </a:cubicBezTo>
                  <a:cubicBezTo>
                    <a:pt x="2345505" y="8952"/>
                    <a:pt x="2347468" y="13691"/>
                    <a:pt x="2347468" y="18633"/>
                  </a:cubicBezTo>
                  <a:lnTo>
                    <a:pt x="2347468" y="400467"/>
                  </a:lnTo>
                  <a:cubicBezTo>
                    <a:pt x="2347468" y="410758"/>
                    <a:pt x="2339126" y="419100"/>
                    <a:pt x="2328836" y="419100"/>
                  </a:cubicBezTo>
                  <a:lnTo>
                    <a:pt x="18633" y="419100"/>
                  </a:lnTo>
                  <a:cubicBezTo>
                    <a:pt x="13691" y="419100"/>
                    <a:pt x="8952" y="417137"/>
                    <a:pt x="5457" y="413643"/>
                  </a:cubicBezTo>
                  <a:cubicBezTo>
                    <a:pt x="1963" y="410148"/>
                    <a:pt x="0" y="405409"/>
                    <a:pt x="0" y="400467"/>
                  </a:cubicBezTo>
                  <a:lnTo>
                    <a:pt x="0" y="18633"/>
                  </a:lnTo>
                  <a:cubicBezTo>
                    <a:pt x="0" y="13691"/>
                    <a:pt x="1963" y="8952"/>
                    <a:pt x="5457" y="5457"/>
                  </a:cubicBezTo>
                  <a:cubicBezTo>
                    <a:pt x="8952" y="1963"/>
                    <a:pt x="13691" y="0"/>
                    <a:pt x="18633" y="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47468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20940" y="5286090"/>
            <a:ext cx="3246120" cy="579539"/>
            <a:chOff x="0" y="0"/>
            <a:chExt cx="2347468" cy="419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7468" cy="419100"/>
            </a:xfrm>
            <a:custGeom>
              <a:avLst/>
              <a:gdLst/>
              <a:ahLst/>
              <a:cxnLst/>
              <a:rect r="r" b="b" t="t" l="l"/>
              <a:pathLst>
                <a:path h="419100" w="2347468">
                  <a:moveTo>
                    <a:pt x="18633" y="0"/>
                  </a:moveTo>
                  <a:lnTo>
                    <a:pt x="2328836" y="0"/>
                  </a:lnTo>
                  <a:cubicBezTo>
                    <a:pt x="2333777" y="0"/>
                    <a:pt x="2338517" y="1963"/>
                    <a:pt x="2342011" y="5457"/>
                  </a:cubicBezTo>
                  <a:cubicBezTo>
                    <a:pt x="2345505" y="8952"/>
                    <a:pt x="2347468" y="13691"/>
                    <a:pt x="2347468" y="18633"/>
                  </a:cubicBezTo>
                  <a:lnTo>
                    <a:pt x="2347468" y="400467"/>
                  </a:lnTo>
                  <a:cubicBezTo>
                    <a:pt x="2347468" y="410758"/>
                    <a:pt x="2339126" y="419100"/>
                    <a:pt x="2328836" y="419100"/>
                  </a:cubicBezTo>
                  <a:lnTo>
                    <a:pt x="18633" y="419100"/>
                  </a:lnTo>
                  <a:cubicBezTo>
                    <a:pt x="13691" y="419100"/>
                    <a:pt x="8952" y="417137"/>
                    <a:pt x="5457" y="413643"/>
                  </a:cubicBezTo>
                  <a:cubicBezTo>
                    <a:pt x="1963" y="410148"/>
                    <a:pt x="0" y="405409"/>
                    <a:pt x="0" y="400467"/>
                  </a:cubicBezTo>
                  <a:lnTo>
                    <a:pt x="0" y="18633"/>
                  </a:lnTo>
                  <a:cubicBezTo>
                    <a:pt x="0" y="13691"/>
                    <a:pt x="1963" y="8952"/>
                    <a:pt x="5457" y="5457"/>
                  </a:cubicBezTo>
                  <a:cubicBezTo>
                    <a:pt x="8952" y="1963"/>
                    <a:pt x="13691" y="0"/>
                    <a:pt x="18633" y="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47468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767060" y="5286090"/>
            <a:ext cx="3246120" cy="579539"/>
            <a:chOff x="0" y="0"/>
            <a:chExt cx="2347468" cy="419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47468" cy="419100"/>
            </a:xfrm>
            <a:custGeom>
              <a:avLst/>
              <a:gdLst/>
              <a:ahLst/>
              <a:cxnLst/>
              <a:rect r="r" b="b" t="t" l="l"/>
              <a:pathLst>
                <a:path h="419100" w="2347468">
                  <a:moveTo>
                    <a:pt x="18633" y="0"/>
                  </a:moveTo>
                  <a:lnTo>
                    <a:pt x="2328836" y="0"/>
                  </a:lnTo>
                  <a:cubicBezTo>
                    <a:pt x="2333777" y="0"/>
                    <a:pt x="2338517" y="1963"/>
                    <a:pt x="2342011" y="5457"/>
                  </a:cubicBezTo>
                  <a:cubicBezTo>
                    <a:pt x="2345505" y="8952"/>
                    <a:pt x="2347468" y="13691"/>
                    <a:pt x="2347468" y="18633"/>
                  </a:cubicBezTo>
                  <a:lnTo>
                    <a:pt x="2347468" y="400467"/>
                  </a:lnTo>
                  <a:cubicBezTo>
                    <a:pt x="2347468" y="410758"/>
                    <a:pt x="2339126" y="419100"/>
                    <a:pt x="2328836" y="419100"/>
                  </a:cubicBezTo>
                  <a:lnTo>
                    <a:pt x="18633" y="419100"/>
                  </a:lnTo>
                  <a:cubicBezTo>
                    <a:pt x="13691" y="419100"/>
                    <a:pt x="8952" y="417137"/>
                    <a:pt x="5457" y="413643"/>
                  </a:cubicBezTo>
                  <a:cubicBezTo>
                    <a:pt x="1963" y="410148"/>
                    <a:pt x="0" y="405409"/>
                    <a:pt x="0" y="400467"/>
                  </a:cubicBezTo>
                  <a:lnTo>
                    <a:pt x="0" y="18633"/>
                  </a:lnTo>
                  <a:cubicBezTo>
                    <a:pt x="0" y="13691"/>
                    <a:pt x="1963" y="8952"/>
                    <a:pt x="5457" y="5457"/>
                  </a:cubicBezTo>
                  <a:cubicBezTo>
                    <a:pt x="8952" y="1963"/>
                    <a:pt x="13691" y="0"/>
                    <a:pt x="18633" y="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347468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04132" y="5809707"/>
            <a:ext cx="495256" cy="239554"/>
            <a:chOff x="0" y="0"/>
            <a:chExt cx="698500" cy="3378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9996" y="0"/>
              <a:ext cx="618508" cy="310690"/>
            </a:xfrm>
            <a:custGeom>
              <a:avLst/>
              <a:gdLst/>
              <a:ahLst/>
              <a:cxnLst/>
              <a:rect r="r" b="b" t="t" l="l"/>
              <a:pathLst>
                <a:path h="310690" w="618508">
                  <a:moveTo>
                    <a:pt x="260977" y="291160"/>
                  </a:moveTo>
                  <a:lnTo>
                    <a:pt x="8281" y="46702"/>
                  </a:lnTo>
                  <a:cubicBezTo>
                    <a:pt x="323" y="39004"/>
                    <a:pt x="-2168" y="27247"/>
                    <a:pt x="1984" y="16983"/>
                  </a:cubicBezTo>
                  <a:cubicBezTo>
                    <a:pt x="6136" y="6718"/>
                    <a:pt x="16101" y="0"/>
                    <a:pt x="27173" y="0"/>
                  </a:cubicBezTo>
                  <a:lnTo>
                    <a:pt x="591335" y="0"/>
                  </a:lnTo>
                  <a:cubicBezTo>
                    <a:pt x="602407" y="0"/>
                    <a:pt x="612372" y="6718"/>
                    <a:pt x="616524" y="16983"/>
                  </a:cubicBezTo>
                  <a:cubicBezTo>
                    <a:pt x="620676" y="27247"/>
                    <a:pt x="618185" y="39004"/>
                    <a:pt x="610227" y="46702"/>
                  </a:cubicBezTo>
                  <a:lnTo>
                    <a:pt x="357531" y="291160"/>
                  </a:lnTo>
                  <a:cubicBezTo>
                    <a:pt x="330613" y="317199"/>
                    <a:pt x="287895" y="317199"/>
                    <a:pt x="260977" y="291160"/>
                  </a:cubicBezTo>
                  <a:close/>
                </a:path>
              </a:pathLst>
            </a:custGeom>
            <a:solidFill>
              <a:srgbClr val="E9D5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215900" y="-38100"/>
              <a:ext cx="266700" cy="249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58300" y="5809707"/>
            <a:ext cx="495256" cy="239554"/>
            <a:chOff x="0" y="0"/>
            <a:chExt cx="698500" cy="3378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9996" y="0"/>
              <a:ext cx="618508" cy="310690"/>
            </a:xfrm>
            <a:custGeom>
              <a:avLst/>
              <a:gdLst/>
              <a:ahLst/>
              <a:cxnLst/>
              <a:rect r="r" b="b" t="t" l="l"/>
              <a:pathLst>
                <a:path h="310690" w="618508">
                  <a:moveTo>
                    <a:pt x="260977" y="291160"/>
                  </a:moveTo>
                  <a:lnTo>
                    <a:pt x="8281" y="46702"/>
                  </a:lnTo>
                  <a:cubicBezTo>
                    <a:pt x="323" y="39004"/>
                    <a:pt x="-2168" y="27247"/>
                    <a:pt x="1984" y="16983"/>
                  </a:cubicBezTo>
                  <a:cubicBezTo>
                    <a:pt x="6136" y="6718"/>
                    <a:pt x="16101" y="0"/>
                    <a:pt x="27173" y="0"/>
                  </a:cubicBezTo>
                  <a:lnTo>
                    <a:pt x="591335" y="0"/>
                  </a:lnTo>
                  <a:cubicBezTo>
                    <a:pt x="602407" y="0"/>
                    <a:pt x="612372" y="6718"/>
                    <a:pt x="616524" y="16983"/>
                  </a:cubicBezTo>
                  <a:cubicBezTo>
                    <a:pt x="620676" y="27247"/>
                    <a:pt x="618185" y="39004"/>
                    <a:pt x="610227" y="46702"/>
                  </a:cubicBezTo>
                  <a:lnTo>
                    <a:pt x="357531" y="291160"/>
                  </a:lnTo>
                  <a:cubicBezTo>
                    <a:pt x="330613" y="317199"/>
                    <a:pt x="287895" y="317199"/>
                    <a:pt x="260977" y="29116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215900" y="-38100"/>
              <a:ext cx="266700" cy="249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309515" y="5845106"/>
            <a:ext cx="495256" cy="239554"/>
            <a:chOff x="0" y="0"/>
            <a:chExt cx="698500" cy="3378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39996" y="0"/>
              <a:ext cx="618508" cy="310690"/>
            </a:xfrm>
            <a:custGeom>
              <a:avLst/>
              <a:gdLst/>
              <a:ahLst/>
              <a:cxnLst/>
              <a:rect r="r" b="b" t="t" l="l"/>
              <a:pathLst>
                <a:path h="310690" w="618508">
                  <a:moveTo>
                    <a:pt x="260977" y="291160"/>
                  </a:moveTo>
                  <a:lnTo>
                    <a:pt x="8281" y="46702"/>
                  </a:lnTo>
                  <a:cubicBezTo>
                    <a:pt x="323" y="39004"/>
                    <a:pt x="-2168" y="27247"/>
                    <a:pt x="1984" y="16983"/>
                  </a:cubicBezTo>
                  <a:cubicBezTo>
                    <a:pt x="6136" y="6718"/>
                    <a:pt x="16101" y="0"/>
                    <a:pt x="27173" y="0"/>
                  </a:cubicBezTo>
                  <a:lnTo>
                    <a:pt x="591335" y="0"/>
                  </a:lnTo>
                  <a:cubicBezTo>
                    <a:pt x="602407" y="0"/>
                    <a:pt x="612372" y="6718"/>
                    <a:pt x="616524" y="16983"/>
                  </a:cubicBezTo>
                  <a:cubicBezTo>
                    <a:pt x="620676" y="27247"/>
                    <a:pt x="618185" y="39004"/>
                    <a:pt x="610227" y="46702"/>
                  </a:cubicBezTo>
                  <a:lnTo>
                    <a:pt x="357531" y="291160"/>
                  </a:lnTo>
                  <a:cubicBezTo>
                    <a:pt x="330613" y="317199"/>
                    <a:pt x="287895" y="317199"/>
                    <a:pt x="260977" y="291160"/>
                  </a:cubicBezTo>
                  <a:close/>
                </a:path>
              </a:pathLst>
            </a:custGeom>
            <a:solidFill>
              <a:srgbClr val="6D28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15900" y="-38100"/>
              <a:ext cx="266700" cy="249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5516024" y="5070741"/>
            <a:ext cx="495256" cy="239554"/>
            <a:chOff x="0" y="0"/>
            <a:chExt cx="698500" cy="3378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39996" y="0"/>
              <a:ext cx="618508" cy="310690"/>
            </a:xfrm>
            <a:custGeom>
              <a:avLst/>
              <a:gdLst/>
              <a:ahLst/>
              <a:cxnLst/>
              <a:rect r="r" b="b" t="t" l="l"/>
              <a:pathLst>
                <a:path h="310690" w="618508">
                  <a:moveTo>
                    <a:pt x="260977" y="291160"/>
                  </a:moveTo>
                  <a:lnTo>
                    <a:pt x="8281" y="46702"/>
                  </a:lnTo>
                  <a:cubicBezTo>
                    <a:pt x="323" y="39004"/>
                    <a:pt x="-2168" y="27247"/>
                    <a:pt x="1984" y="16983"/>
                  </a:cubicBezTo>
                  <a:cubicBezTo>
                    <a:pt x="6136" y="6718"/>
                    <a:pt x="16101" y="0"/>
                    <a:pt x="27173" y="0"/>
                  </a:cubicBezTo>
                  <a:lnTo>
                    <a:pt x="591335" y="0"/>
                  </a:lnTo>
                  <a:cubicBezTo>
                    <a:pt x="602407" y="0"/>
                    <a:pt x="612372" y="6718"/>
                    <a:pt x="616524" y="16983"/>
                  </a:cubicBezTo>
                  <a:cubicBezTo>
                    <a:pt x="620676" y="27247"/>
                    <a:pt x="618185" y="39004"/>
                    <a:pt x="610227" y="46702"/>
                  </a:cubicBezTo>
                  <a:lnTo>
                    <a:pt x="357531" y="291160"/>
                  </a:lnTo>
                  <a:cubicBezTo>
                    <a:pt x="330613" y="317199"/>
                    <a:pt x="287895" y="317199"/>
                    <a:pt x="260977" y="291160"/>
                  </a:cubicBez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215900" y="-38100"/>
              <a:ext cx="266700" cy="249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10800000">
            <a:off x="12170192" y="5070741"/>
            <a:ext cx="495256" cy="239554"/>
            <a:chOff x="0" y="0"/>
            <a:chExt cx="698500" cy="3378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39996" y="0"/>
              <a:ext cx="618508" cy="310690"/>
            </a:xfrm>
            <a:custGeom>
              <a:avLst/>
              <a:gdLst/>
              <a:ahLst/>
              <a:cxnLst/>
              <a:rect r="r" b="b" t="t" l="l"/>
              <a:pathLst>
                <a:path h="310690" w="618508">
                  <a:moveTo>
                    <a:pt x="260977" y="291160"/>
                  </a:moveTo>
                  <a:lnTo>
                    <a:pt x="8281" y="46702"/>
                  </a:lnTo>
                  <a:cubicBezTo>
                    <a:pt x="323" y="39004"/>
                    <a:pt x="-2168" y="27247"/>
                    <a:pt x="1984" y="16983"/>
                  </a:cubicBezTo>
                  <a:cubicBezTo>
                    <a:pt x="6136" y="6718"/>
                    <a:pt x="16101" y="0"/>
                    <a:pt x="27173" y="0"/>
                  </a:cubicBezTo>
                  <a:lnTo>
                    <a:pt x="591335" y="0"/>
                  </a:lnTo>
                  <a:cubicBezTo>
                    <a:pt x="602407" y="0"/>
                    <a:pt x="612372" y="6718"/>
                    <a:pt x="616524" y="16983"/>
                  </a:cubicBezTo>
                  <a:cubicBezTo>
                    <a:pt x="620676" y="27247"/>
                    <a:pt x="618185" y="39004"/>
                    <a:pt x="610227" y="46702"/>
                  </a:cubicBezTo>
                  <a:lnTo>
                    <a:pt x="357531" y="291160"/>
                  </a:lnTo>
                  <a:cubicBezTo>
                    <a:pt x="330613" y="317199"/>
                    <a:pt x="287895" y="317199"/>
                    <a:pt x="260977" y="29116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215900" y="-38100"/>
              <a:ext cx="266700" cy="249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28700" y="838200"/>
            <a:ext cx="8115300" cy="248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From Data to Demo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5863" y="5358509"/>
            <a:ext cx="2411794" cy="37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16"/>
              </a:lnSpc>
              <a:spcBef>
                <a:spcPct val="0"/>
              </a:spcBef>
            </a:pPr>
            <a:r>
              <a:rPr lang="en-US" b="true" sz="2154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Step 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57755" y="5358509"/>
            <a:ext cx="2411794" cy="37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16"/>
              </a:lnSpc>
              <a:spcBef>
                <a:spcPct val="0"/>
              </a:spcBef>
            </a:pPr>
            <a:r>
              <a:rPr lang="en-US" b="true" sz="2154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Step 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938103" y="5358509"/>
            <a:ext cx="2411794" cy="37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16"/>
              </a:lnSpc>
              <a:spcBef>
                <a:spcPct val="0"/>
              </a:spcBef>
            </a:pPr>
            <a:r>
              <a:rPr lang="en-US" b="true" sz="2154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Step 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84223" y="5358509"/>
            <a:ext cx="2411794" cy="37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16"/>
              </a:lnSpc>
              <a:spcBef>
                <a:spcPct val="0"/>
              </a:spcBef>
            </a:pPr>
            <a:r>
              <a:rPr lang="en-US" sz="2154" strike="noStrike" u="non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Step 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00498" y="5358509"/>
            <a:ext cx="2411794" cy="37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16"/>
              </a:lnSpc>
              <a:spcBef>
                <a:spcPct val="0"/>
              </a:spcBef>
            </a:pPr>
            <a:r>
              <a:rPr lang="en-US" b="true" sz="2154" strike="noStrike" u="none">
                <a:solidFill>
                  <a:srgbClr val="E5E7EB"/>
                </a:solidFill>
                <a:latin typeface="Inter Bold"/>
                <a:ea typeface="Inter Bold"/>
                <a:cs typeface="Inter Bold"/>
                <a:sym typeface="Inter Bold"/>
              </a:rPr>
              <a:t>Step 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11057" y="7000438"/>
            <a:ext cx="250514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PrimeKG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708192" y="7000438"/>
            <a:ext cx="250514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Graph Variants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663766" y="7000438"/>
            <a:ext cx="250514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R-GCN Training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707883" y="2631171"/>
            <a:ext cx="250514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Evaluation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708502" y="2631171"/>
            <a:ext cx="288751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CHEERS Web App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11057" y="7570949"/>
            <a:ext cx="3172231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Build a clean DDI split and biomedical support relations.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708192" y="7570949"/>
            <a:ext cx="3172231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Create G0–G3 while keeping the experiment controlled.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663766" y="7570949"/>
            <a:ext cx="3172231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Train the same R-GCN architecture across all graph variants.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707883" y="3201681"/>
            <a:ext cx="3172231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Compare ranking metrics and uncertainty across seeds.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708502" y="3201681"/>
            <a:ext cx="3172231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Export the verified model into an interactive research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7607498" y="3602276"/>
            <a:ext cx="3086100" cy="2693324"/>
            <a:chOff x="0" y="0"/>
            <a:chExt cx="6985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2660" y="0"/>
              <a:ext cx="653181" cy="578363"/>
            </a:xfrm>
            <a:custGeom>
              <a:avLst/>
              <a:gdLst/>
              <a:ahLst/>
              <a:cxnLst/>
              <a:rect r="r" b="b" t="t" l="l"/>
              <a:pathLst>
                <a:path h="578363" w="653181">
                  <a:moveTo>
                    <a:pt x="299797" y="562835"/>
                  </a:moveTo>
                  <a:lnTo>
                    <a:pt x="4133" y="46765"/>
                  </a:lnTo>
                  <a:cubicBezTo>
                    <a:pt x="-1406" y="37098"/>
                    <a:pt x="-1376" y="25213"/>
                    <a:pt x="4211" y="15573"/>
                  </a:cubicBezTo>
                  <a:cubicBezTo>
                    <a:pt x="9797" y="5934"/>
                    <a:pt x="20095" y="0"/>
                    <a:pt x="31237" y="0"/>
                  </a:cubicBezTo>
                  <a:lnTo>
                    <a:pt x="621943" y="0"/>
                  </a:lnTo>
                  <a:cubicBezTo>
                    <a:pt x="633085" y="0"/>
                    <a:pt x="643383" y="5934"/>
                    <a:pt x="648969" y="15574"/>
                  </a:cubicBezTo>
                  <a:cubicBezTo>
                    <a:pt x="654556" y="25213"/>
                    <a:pt x="654586" y="37098"/>
                    <a:pt x="649047" y="46765"/>
                  </a:cubicBezTo>
                  <a:lnTo>
                    <a:pt x="353383" y="562835"/>
                  </a:lnTo>
                  <a:cubicBezTo>
                    <a:pt x="347880" y="572439"/>
                    <a:pt x="337659" y="578363"/>
                    <a:pt x="326590" y="578363"/>
                  </a:cubicBezTo>
                  <a:cubicBezTo>
                    <a:pt x="315521" y="578363"/>
                    <a:pt x="305300" y="572439"/>
                    <a:pt x="299797" y="562835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15900" y="-38100"/>
              <a:ext cx="2667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07498" y="6425525"/>
            <a:ext cx="3086100" cy="2693324"/>
            <a:chOff x="0" y="0"/>
            <a:chExt cx="6985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2660" y="0"/>
              <a:ext cx="653181" cy="578363"/>
            </a:xfrm>
            <a:custGeom>
              <a:avLst/>
              <a:gdLst/>
              <a:ahLst/>
              <a:cxnLst/>
              <a:rect r="r" b="b" t="t" l="l"/>
              <a:pathLst>
                <a:path h="578363" w="653181">
                  <a:moveTo>
                    <a:pt x="299797" y="562835"/>
                  </a:moveTo>
                  <a:lnTo>
                    <a:pt x="4133" y="46765"/>
                  </a:lnTo>
                  <a:cubicBezTo>
                    <a:pt x="-1406" y="37098"/>
                    <a:pt x="-1376" y="25213"/>
                    <a:pt x="4211" y="15573"/>
                  </a:cubicBezTo>
                  <a:cubicBezTo>
                    <a:pt x="9797" y="5934"/>
                    <a:pt x="20095" y="0"/>
                    <a:pt x="31237" y="0"/>
                  </a:cubicBezTo>
                  <a:lnTo>
                    <a:pt x="621943" y="0"/>
                  </a:lnTo>
                  <a:cubicBezTo>
                    <a:pt x="633085" y="0"/>
                    <a:pt x="643383" y="5934"/>
                    <a:pt x="648969" y="15574"/>
                  </a:cubicBezTo>
                  <a:cubicBezTo>
                    <a:pt x="654556" y="25213"/>
                    <a:pt x="654586" y="37098"/>
                    <a:pt x="649047" y="46765"/>
                  </a:cubicBezTo>
                  <a:lnTo>
                    <a:pt x="353383" y="562835"/>
                  </a:lnTo>
                  <a:cubicBezTo>
                    <a:pt x="347880" y="572439"/>
                    <a:pt x="337659" y="578363"/>
                    <a:pt x="326590" y="578363"/>
                  </a:cubicBezTo>
                  <a:cubicBezTo>
                    <a:pt x="315521" y="578363"/>
                    <a:pt x="305300" y="572439"/>
                    <a:pt x="299797" y="562835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15900" y="-38100"/>
              <a:ext cx="2667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5994202" y="6564976"/>
            <a:ext cx="3086100" cy="2693324"/>
            <a:chOff x="0" y="0"/>
            <a:chExt cx="6985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2660" y="0"/>
              <a:ext cx="653181" cy="578363"/>
            </a:xfrm>
            <a:custGeom>
              <a:avLst/>
              <a:gdLst/>
              <a:ahLst/>
              <a:cxnLst/>
              <a:rect r="r" b="b" t="t" l="l"/>
              <a:pathLst>
                <a:path h="578363" w="653181">
                  <a:moveTo>
                    <a:pt x="299797" y="562835"/>
                  </a:moveTo>
                  <a:lnTo>
                    <a:pt x="4133" y="46765"/>
                  </a:lnTo>
                  <a:cubicBezTo>
                    <a:pt x="-1406" y="37098"/>
                    <a:pt x="-1376" y="25213"/>
                    <a:pt x="4211" y="15573"/>
                  </a:cubicBezTo>
                  <a:cubicBezTo>
                    <a:pt x="9797" y="5934"/>
                    <a:pt x="20095" y="0"/>
                    <a:pt x="31237" y="0"/>
                  </a:cubicBezTo>
                  <a:lnTo>
                    <a:pt x="621943" y="0"/>
                  </a:lnTo>
                  <a:cubicBezTo>
                    <a:pt x="633085" y="0"/>
                    <a:pt x="643383" y="5934"/>
                    <a:pt x="648969" y="15574"/>
                  </a:cubicBezTo>
                  <a:cubicBezTo>
                    <a:pt x="654556" y="25213"/>
                    <a:pt x="654586" y="37098"/>
                    <a:pt x="649047" y="46765"/>
                  </a:cubicBezTo>
                  <a:lnTo>
                    <a:pt x="353383" y="562835"/>
                  </a:lnTo>
                  <a:cubicBezTo>
                    <a:pt x="347880" y="572439"/>
                    <a:pt x="337659" y="578363"/>
                    <a:pt x="326590" y="578363"/>
                  </a:cubicBezTo>
                  <a:cubicBezTo>
                    <a:pt x="315521" y="578363"/>
                    <a:pt x="305300" y="572439"/>
                    <a:pt x="299797" y="562835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15900" y="-38100"/>
              <a:ext cx="2667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207698" y="6564976"/>
            <a:ext cx="3086100" cy="2693324"/>
            <a:chOff x="0" y="0"/>
            <a:chExt cx="6985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2660" y="0"/>
              <a:ext cx="653181" cy="578363"/>
            </a:xfrm>
            <a:custGeom>
              <a:avLst/>
              <a:gdLst/>
              <a:ahLst/>
              <a:cxnLst/>
              <a:rect r="r" b="b" t="t" l="l"/>
              <a:pathLst>
                <a:path h="578363" w="653181">
                  <a:moveTo>
                    <a:pt x="299797" y="562835"/>
                  </a:moveTo>
                  <a:lnTo>
                    <a:pt x="4133" y="46765"/>
                  </a:lnTo>
                  <a:cubicBezTo>
                    <a:pt x="-1406" y="37098"/>
                    <a:pt x="-1376" y="25213"/>
                    <a:pt x="4211" y="15573"/>
                  </a:cubicBezTo>
                  <a:cubicBezTo>
                    <a:pt x="9797" y="5934"/>
                    <a:pt x="20095" y="0"/>
                    <a:pt x="31237" y="0"/>
                  </a:cubicBezTo>
                  <a:lnTo>
                    <a:pt x="621943" y="0"/>
                  </a:lnTo>
                  <a:cubicBezTo>
                    <a:pt x="633085" y="0"/>
                    <a:pt x="643383" y="5934"/>
                    <a:pt x="648969" y="15574"/>
                  </a:cubicBezTo>
                  <a:cubicBezTo>
                    <a:pt x="654556" y="25213"/>
                    <a:pt x="654586" y="37098"/>
                    <a:pt x="649047" y="46765"/>
                  </a:cubicBezTo>
                  <a:lnTo>
                    <a:pt x="353383" y="562835"/>
                  </a:lnTo>
                  <a:cubicBezTo>
                    <a:pt x="347880" y="572439"/>
                    <a:pt x="337659" y="578363"/>
                    <a:pt x="326590" y="578363"/>
                  </a:cubicBezTo>
                  <a:cubicBezTo>
                    <a:pt x="315521" y="578363"/>
                    <a:pt x="305300" y="572439"/>
                    <a:pt x="299797" y="562835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215900" y="-38100"/>
              <a:ext cx="2667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838200"/>
            <a:ext cx="16230600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Which Information Helped Most?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203515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Target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106891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Carrier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24258" y="2980465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Transporter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24258" y="7106891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Uncertainty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892581"/>
            <a:ext cx="426245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Largest average individual improvement in the five-seed ablation.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7795957"/>
            <a:ext cx="4262458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Small relation, but a positive average effect.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24258" y="3669531"/>
            <a:ext cx="4262458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Also showed a small positive average effect.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24258" y="7795957"/>
            <a:ext cx="426245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No single relation was statistically established as better than G0.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232127" y="7960408"/>
            <a:ext cx="610250" cy="686375"/>
          </a:xfrm>
          <a:custGeom>
            <a:avLst/>
            <a:gdLst/>
            <a:ahLst/>
            <a:cxnLst/>
            <a:rect r="r" b="b" t="t" l="l"/>
            <a:pathLst>
              <a:path h="686375" w="610250">
                <a:moveTo>
                  <a:pt x="0" y="0"/>
                </a:moveTo>
                <a:lnTo>
                  <a:pt x="610250" y="0"/>
                </a:lnTo>
                <a:lnTo>
                  <a:pt x="610250" y="686375"/>
                </a:lnTo>
                <a:lnTo>
                  <a:pt x="0" y="686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845423" y="7019588"/>
            <a:ext cx="704878" cy="625419"/>
          </a:xfrm>
          <a:custGeom>
            <a:avLst/>
            <a:gdLst/>
            <a:ahLst/>
            <a:cxnLst/>
            <a:rect r="r" b="b" t="t" l="l"/>
            <a:pathLst>
              <a:path h="625419" w="704878">
                <a:moveTo>
                  <a:pt x="0" y="0"/>
                </a:moveTo>
                <a:lnTo>
                  <a:pt x="704878" y="0"/>
                </a:lnTo>
                <a:lnTo>
                  <a:pt x="704878" y="625419"/>
                </a:lnTo>
                <a:lnTo>
                  <a:pt x="0" y="625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20920" y="4812869"/>
            <a:ext cx="718764" cy="661262"/>
          </a:xfrm>
          <a:custGeom>
            <a:avLst/>
            <a:gdLst/>
            <a:ahLst/>
            <a:cxnLst/>
            <a:rect r="r" b="b" t="t" l="l"/>
            <a:pathLst>
              <a:path h="661262" w="718764">
                <a:moveTo>
                  <a:pt x="0" y="0"/>
                </a:moveTo>
                <a:lnTo>
                  <a:pt x="718764" y="0"/>
                </a:lnTo>
                <a:lnTo>
                  <a:pt x="718764" y="661262"/>
                </a:lnTo>
                <a:lnTo>
                  <a:pt x="0" y="661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578403" y="7973757"/>
            <a:ext cx="690605" cy="673026"/>
          </a:xfrm>
          <a:custGeom>
            <a:avLst/>
            <a:gdLst/>
            <a:ahLst/>
            <a:cxnLst/>
            <a:rect r="r" b="b" t="t" l="l"/>
            <a:pathLst>
              <a:path h="673026" w="690605">
                <a:moveTo>
                  <a:pt x="0" y="0"/>
                </a:moveTo>
                <a:lnTo>
                  <a:pt x="690604" y="0"/>
                </a:lnTo>
                <a:lnTo>
                  <a:pt x="690604" y="673026"/>
                </a:lnTo>
                <a:lnTo>
                  <a:pt x="0" y="6730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90843" y="2962275"/>
            <a:ext cx="3086100" cy="3086100"/>
            <a:chOff x="0" y="0"/>
            <a:chExt cx="558800" cy="55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889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63194" y="3140486"/>
            <a:ext cx="2917414" cy="2917414"/>
            <a:chOff x="0" y="0"/>
            <a:chExt cx="5588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889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9211057" y="6172200"/>
            <a:ext cx="3086100" cy="3086100"/>
            <a:chOff x="0" y="0"/>
            <a:chExt cx="5588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6D28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889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207392" y="6148827"/>
            <a:ext cx="2917414" cy="2917414"/>
            <a:chOff x="0" y="0"/>
            <a:chExt cx="558800" cy="55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889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9211057" y="2962275"/>
            <a:ext cx="3086100" cy="3086100"/>
            <a:chOff x="0" y="0"/>
            <a:chExt cx="558800" cy="55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889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9207392" y="3140486"/>
            <a:ext cx="2917414" cy="2917414"/>
            <a:chOff x="0" y="0"/>
            <a:chExt cx="558800" cy="55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889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5990843" y="6172200"/>
            <a:ext cx="3086100" cy="3086100"/>
            <a:chOff x="0" y="0"/>
            <a:chExt cx="558800" cy="55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889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6163194" y="6148827"/>
            <a:ext cx="2917414" cy="2917414"/>
            <a:chOff x="0" y="0"/>
            <a:chExt cx="558800" cy="55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889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986336" y="4155764"/>
            <a:ext cx="635565" cy="699121"/>
          </a:xfrm>
          <a:custGeom>
            <a:avLst/>
            <a:gdLst/>
            <a:ahLst/>
            <a:cxnLst/>
            <a:rect r="r" b="b" t="t" l="l"/>
            <a:pathLst>
              <a:path h="699121" w="635565">
                <a:moveTo>
                  <a:pt x="0" y="0"/>
                </a:moveTo>
                <a:lnTo>
                  <a:pt x="635565" y="0"/>
                </a:lnTo>
                <a:lnTo>
                  <a:pt x="635565" y="699122"/>
                </a:lnTo>
                <a:lnTo>
                  <a:pt x="0" y="699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174511" y="7105650"/>
            <a:ext cx="718764" cy="661262"/>
          </a:xfrm>
          <a:custGeom>
            <a:avLst/>
            <a:gdLst/>
            <a:ahLst/>
            <a:cxnLst/>
            <a:rect r="r" b="b" t="t" l="l"/>
            <a:pathLst>
              <a:path h="661262" w="718764">
                <a:moveTo>
                  <a:pt x="0" y="0"/>
                </a:moveTo>
                <a:lnTo>
                  <a:pt x="718763" y="0"/>
                </a:lnTo>
                <a:lnTo>
                  <a:pt x="718763" y="661262"/>
                </a:lnTo>
                <a:lnTo>
                  <a:pt x="0" y="661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439830" y="4292916"/>
            <a:ext cx="628554" cy="612555"/>
          </a:xfrm>
          <a:custGeom>
            <a:avLst/>
            <a:gdLst/>
            <a:ahLst/>
            <a:cxnLst/>
            <a:rect r="r" b="b" t="t" l="l"/>
            <a:pathLst>
              <a:path h="612555" w="628554">
                <a:moveTo>
                  <a:pt x="0" y="0"/>
                </a:moveTo>
                <a:lnTo>
                  <a:pt x="628555" y="0"/>
                </a:lnTo>
                <a:lnTo>
                  <a:pt x="628555" y="612554"/>
                </a:lnTo>
                <a:lnTo>
                  <a:pt x="0" y="6125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518552" y="7221503"/>
            <a:ext cx="471110" cy="612555"/>
          </a:xfrm>
          <a:custGeom>
            <a:avLst/>
            <a:gdLst/>
            <a:ahLst/>
            <a:cxnLst/>
            <a:rect r="r" b="b" t="t" l="l"/>
            <a:pathLst>
              <a:path h="612555" w="471110">
                <a:moveTo>
                  <a:pt x="0" y="0"/>
                </a:moveTo>
                <a:lnTo>
                  <a:pt x="471111" y="0"/>
                </a:lnTo>
                <a:lnTo>
                  <a:pt x="471111" y="612554"/>
                </a:lnTo>
                <a:lnTo>
                  <a:pt x="0" y="612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95757" y="838200"/>
            <a:ext cx="1305630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CHEERS Web Application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3203515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DDI Predictor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7106891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Pair Graph Explorer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24258" y="2980465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Subgraph Explorer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24258" y="7106891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Evidence View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3892581"/>
            <a:ext cx="426245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Ranks possible unobserved drug–drug links for a selected drug.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7795957"/>
            <a:ext cx="426245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Shows shared gene/protein, disease and DDI graph context for a pair.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24258" y="3669531"/>
            <a:ext cx="426245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Explores one drug's neighborhood with relation and entity filters.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824258" y="7795957"/>
            <a:ext cx="4262458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Retrieves FDA label information and PubMed literature separately from the model.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3604" y="3526763"/>
            <a:ext cx="2152213" cy="2257199"/>
            <a:chOff x="0" y="0"/>
            <a:chExt cx="520700" cy="546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0700" cy="534463"/>
            </a:xfrm>
            <a:custGeom>
              <a:avLst/>
              <a:gdLst/>
              <a:ahLst/>
              <a:cxnLst/>
              <a:rect r="r" b="b" t="t" l="l"/>
              <a:pathLst>
                <a:path h="534463" w="520700">
                  <a:moveTo>
                    <a:pt x="0" y="32262"/>
                  </a:moveTo>
                  <a:lnTo>
                    <a:pt x="0" y="297938"/>
                  </a:lnTo>
                  <a:cubicBezTo>
                    <a:pt x="0" y="318374"/>
                    <a:pt x="9103" y="337749"/>
                    <a:pt x="24834" y="350794"/>
                  </a:cubicBezTo>
                  <a:lnTo>
                    <a:pt x="235516" y="525506"/>
                  </a:lnTo>
                  <a:cubicBezTo>
                    <a:pt x="249918" y="537449"/>
                    <a:pt x="270782" y="537449"/>
                    <a:pt x="285184" y="525506"/>
                  </a:cubicBezTo>
                  <a:lnTo>
                    <a:pt x="495866" y="350794"/>
                  </a:lnTo>
                  <a:cubicBezTo>
                    <a:pt x="511597" y="337749"/>
                    <a:pt x="520700" y="318374"/>
                    <a:pt x="520700" y="297938"/>
                  </a:cubicBezTo>
                  <a:lnTo>
                    <a:pt x="520700" y="32262"/>
                  </a:lnTo>
                  <a:cubicBezTo>
                    <a:pt x="520700" y="14444"/>
                    <a:pt x="506256" y="0"/>
                    <a:pt x="488438" y="0"/>
                  </a:cubicBezTo>
                  <a:lnTo>
                    <a:pt x="32262" y="0"/>
                  </a:lnTo>
                  <a:cubicBezTo>
                    <a:pt x="14444" y="0"/>
                    <a:pt x="0" y="14444"/>
                    <a:pt x="0" y="32262"/>
                  </a:cubicBezTo>
                  <a:close/>
                </a:path>
              </a:pathLst>
            </a:custGeom>
            <a:solidFill>
              <a:srgbClr val="A78BF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2700"/>
              <a:ext cx="520700" cy="33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8067244" y="5089977"/>
            <a:ext cx="2152213" cy="2257199"/>
            <a:chOff x="0" y="0"/>
            <a:chExt cx="520700" cy="546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0700" cy="534463"/>
            </a:xfrm>
            <a:custGeom>
              <a:avLst/>
              <a:gdLst/>
              <a:ahLst/>
              <a:cxnLst/>
              <a:rect r="r" b="b" t="t" l="l"/>
              <a:pathLst>
                <a:path h="534463" w="520700">
                  <a:moveTo>
                    <a:pt x="0" y="32262"/>
                  </a:moveTo>
                  <a:lnTo>
                    <a:pt x="0" y="297938"/>
                  </a:lnTo>
                  <a:cubicBezTo>
                    <a:pt x="0" y="318374"/>
                    <a:pt x="9103" y="337749"/>
                    <a:pt x="24834" y="350794"/>
                  </a:cubicBezTo>
                  <a:lnTo>
                    <a:pt x="235516" y="525506"/>
                  </a:lnTo>
                  <a:cubicBezTo>
                    <a:pt x="249918" y="537449"/>
                    <a:pt x="270782" y="537449"/>
                    <a:pt x="285184" y="525506"/>
                  </a:cubicBezTo>
                  <a:lnTo>
                    <a:pt x="495866" y="350794"/>
                  </a:lnTo>
                  <a:cubicBezTo>
                    <a:pt x="511597" y="337749"/>
                    <a:pt x="520700" y="318374"/>
                    <a:pt x="520700" y="297938"/>
                  </a:cubicBezTo>
                  <a:lnTo>
                    <a:pt x="520700" y="32262"/>
                  </a:lnTo>
                  <a:cubicBezTo>
                    <a:pt x="520700" y="14444"/>
                    <a:pt x="506256" y="0"/>
                    <a:pt x="488438" y="0"/>
                  </a:cubicBezTo>
                  <a:lnTo>
                    <a:pt x="32262" y="0"/>
                  </a:lnTo>
                  <a:cubicBezTo>
                    <a:pt x="14444" y="0"/>
                    <a:pt x="0" y="14444"/>
                    <a:pt x="0" y="32262"/>
                  </a:cubicBezTo>
                  <a:close/>
                </a:path>
              </a:pathLst>
            </a:custGeom>
            <a:solidFill>
              <a:srgbClr val="A78BF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2700"/>
              <a:ext cx="520700" cy="33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5678165" y="5089977"/>
            <a:ext cx="2152213" cy="2257199"/>
            <a:chOff x="0" y="0"/>
            <a:chExt cx="520700" cy="546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0700" cy="534463"/>
            </a:xfrm>
            <a:custGeom>
              <a:avLst/>
              <a:gdLst/>
              <a:ahLst/>
              <a:cxnLst/>
              <a:rect r="r" b="b" t="t" l="l"/>
              <a:pathLst>
                <a:path h="534463" w="520700">
                  <a:moveTo>
                    <a:pt x="0" y="32262"/>
                  </a:moveTo>
                  <a:lnTo>
                    <a:pt x="0" y="297938"/>
                  </a:lnTo>
                  <a:cubicBezTo>
                    <a:pt x="0" y="318374"/>
                    <a:pt x="9103" y="337749"/>
                    <a:pt x="24834" y="350794"/>
                  </a:cubicBezTo>
                  <a:lnTo>
                    <a:pt x="235516" y="525506"/>
                  </a:lnTo>
                  <a:cubicBezTo>
                    <a:pt x="249918" y="537449"/>
                    <a:pt x="270782" y="537449"/>
                    <a:pt x="285184" y="525506"/>
                  </a:cubicBezTo>
                  <a:lnTo>
                    <a:pt x="495866" y="350794"/>
                  </a:lnTo>
                  <a:cubicBezTo>
                    <a:pt x="511597" y="337749"/>
                    <a:pt x="520700" y="318374"/>
                    <a:pt x="520700" y="297938"/>
                  </a:cubicBezTo>
                  <a:lnTo>
                    <a:pt x="520700" y="32262"/>
                  </a:lnTo>
                  <a:cubicBezTo>
                    <a:pt x="520700" y="14444"/>
                    <a:pt x="506256" y="0"/>
                    <a:pt x="488438" y="0"/>
                  </a:cubicBezTo>
                  <a:lnTo>
                    <a:pt x="32262" y="0"/>
                  </a:lnTo>
                  <a:cubicBezTo>
                    <a:pt x="14444" y="0"/>
                    <a:pt x="0" y="14444"/>
                    <a:pt x="0" y="32262"/>
                  </a:cubicBezTo>
                  <a:close/>
                </a:path>
              </a:pathLst>
            </a:custGeom>
            <a:solidFill>
              <a:srgbClr val="A78BF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2700"/>
              <a:ext cx="520700" cy="33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0457623" y="5089977"/>
            <a:ext cx="2152213" cy="2257199"/>
            <a:chOff x="0" y="0"/>
            <a:chExt cx="520700" cy="546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0700" cy="534463"/>
            </a:xfrm>
            <a:custGeom>
              <a:avLst/>
              <a:gdLst/>
              <a:ahLst/>
              <a:cxnLst/>
              <a:rect r="r" b="b" t="t" l="l"/>
              <a:pathLst>
                <a:path h="534463" w="520700">
                  <a:moveTo>
                    <a:pt x="0" y="32262"/>
                  </a:moveTo>
                  <a:lnTo>
                    <a:pt x="0" y="297938"/>
                  </a:lnTo>
                  <a:cubicBezTo>
                    <a:pt x="0" y="318374"/>
                    <a:pt x="9103" y="337749"/>
                    <a:pt x="24834" y="350794"/>
                  </a:cubicBezTo>
                  <a:lnTo>
                    <a:pt x="235516" y="525506"/>
                  </a:lnTo>
                  <a:cubicBezTo>
                    <a:pt x="249918" y="537449"/>
                    <a:pt x="270782" y="537449"/>
                    <a:pt x="285184" y="525506"/>
                  </a:cubicBezTo>
                  <a:lnTo>
                    <a:pt x="495866" y="350794"/>
                  </a:lnTo>
                  <a:cubicBezTo>
                    <a:pt x="511597" y="337749"/>
                    <a:pt x="520700" y="318374"/>
                    <a:pt x="520700" y="297938"/>
                  </a:cubicBezTo>
                  <a:lnTo>
                    <a:pt x="520700" y="32262"/>
                  </a:lnTo>
                  <a:cubicBezTo>
                    <a:pt x="520700" y="14444"/>
                    <a:pt x="506256" y="0"/>
                    <a:pt x="488438" y="0"/>
                  </a:cubicBezTo>
                  <a:lnTo>
                    <a:pt x="32262" y="0"/>
                  </a:lnTo>
                  <a:cubicBezTo>
                    <a:pt x="14444" y="0"/>
                    <a:pt x="0" y="14444"/>
                    <a:pt x="0" y="32262"/>
                  </a:cubicBezTo>
                  <a:close/>
                </a:path>
              </a:pathLst>
            </a:custGeom>
            <a:solidFill>
              <a:srgbClr val="A78BF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2700"/>
              <a:ext cx="520700" cy="33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40522" y="3526763"/>
            <a:ext cx="2152213" cy="2257199"/>
            <a:chOff x="0" y="0"/>
            <a:chExt cx="520700" cy="546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0700" cy="534463"/>
            </a:xfrm>
            <a:custGeom>
              <a:avLst/>
              <a:gdLst/>
              <a:ahLst/>
              <a:cxnLst/>
              <a:rect r="r" b="b" t="t" l="l"/>
              <a:pathLst>
                <a:path h="534463" w="520700">
                  <a:moveTo>
                    <a:pt x="0" y="32262"/>
                  </a:moveTo>
                  <a:lnTo>
                    <a:pt x="0" y="297938"/>
                  </a:lnTo>
                  <a:cubicBezTo>
                    <a:pt x="0" y="318374"/>
                    <a:pt x="9103" y="337749"/>
                    <a:pt x="24834" y="350794"/>
                  </a:cubicBezTo>
                  <a:lnTo>
                    <a:pt x="235516" y="525506"/>
                  </a:lnTo>
                  <a:cubicBezTo>
                    <a:pt x="249918" y="537449"/>
                    <a:pt x="270782" y="537449"/>
                    <a:pt x="285184" y="525506"/>
                  </a:cubicBezTo>
                  <a:lnTo>
                    <a:pt x="495866" y="350794"/>
                  </a:lnTo>
                  <a:cubicBezTo>
                    <a:pt x="511597" y="337749"/>
                    <a:pt x="520700" y="318374"/>
                    <a:pt x="520700" y="297938"/>
                  </a:cubicBezTo>
                  <a:lnTo>
                    <a:pt x="520700" y="32262"/>
                  </a:lnTo>
                  <a:cubicBezTo>
                    <a:pt x="520700" y="14444"/>
                    <a:pt x="506256" y="0"/>
                    <a:pt x="488438" y="0"/>
                  </a:cubicBezTo>
                  <a:lnTo>
                    <a:pt x="32262" y="0"/>
                  </a:lnTo>
                  <a:cubicBezTo>
                    <a:pt x="14444" y="0"/>
                    <a:pt x="0" y="14444"/>
                    <a:pt x="0" y="32262"/>
                  </a:cubicBezTo>
                  <a:close/>
                </a:path>
              </a:pathLst>
            </a:custGeom>
            <a:solidFill>
              <a:srgbClr val="A78BF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2700"/>
              <a:ext cx="520700" cy="33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625061" y="4170505"/>
            <a:ext cx="770916" cy="770916"/>
          </a:xfrm>
          <a:custGeom>
            <a:avLst/>
            <a:gdLst/>
            <a:ahLst/>
            <a:cxnLst/>
            <a:rect r="r" b="b" t="t" l="l"/>
            <a:pathLst>
              <a:path h="770916" w="770916">
                <a:moveTo>
                  <a:pt x="0" y="0"/>
                </a:moveTo>
                <a:lnTo>
                  <a:pt x="770916" y="0"/>
                </a:lnTo>
                <a:lnTo>
                  <a:pt x="770916" y="770916"/>
                </a:lnTo>
                <a:lnTo>
                  <a:pt x="0" y="770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59975" y="6111991"/>
            <a:ext cx="588592" cy="673026"/>
          </a:xfrm>
          <a:custGeom>
            <a:avLst/>
            <a:gdLst/>
            <a:ahLst/>
            <a:cxnLst/>
            <a:rect r="r" b="b" t="t" l="l"/>
            <a:pathLst>
              <a:path h="673026" w="588592">
                <a:moveTo>
                  <a:pt x="0" y="0"/>
                </a:moveTo>
                <a:lnTo>
                  <a:pt x="588592" y="0"/>
                </a:lnTo>
                <a:lnTo>
                  <a:pt x="588592" y="673026"/>
                </a:lnTo>
                <a:lnTo>
                  <a:pt x="0" y="673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711915" y="6111991"/>
            <a:ext cx="864170" cy="702335"/>
          </a:xfrm>
          <a:custGeom>
            <a:avLst/>
            <a:gdLst/>
            <a:ahLst/>
            <a:cxnLst/>
            <a:rect r="r" b="b" t="t" l="l"/>
            <a:pathLst>
              <a:path h="702335" w="864170">
                <a:moveTo>
                  <a:pt x="0" y="0"/>
                </a:moveTo>
                <a:lnTo>
                  <a:pt x="864170" y="0"/>
                </a:lnTo>
                <a:lnTo>
                  <a:pt x="864170" y="702335"/>
                </a:lnTo>
                <a:lnTo>
                  <a:pt x="0" y="7023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910777" y="4021948"/>
            <a:ext cx="811702" cy="1068029"/>
          </a:xfrm>
          <a:custGeom>
            <a:avLst/>
            <a:gdLst/>
            <a:ahLst/>
            <a:cxnLst/>
            <a:rect r="r" b="b" t="t" l="l"/>
            <a:pathLst>
              <a:path h="1068029" w="811702">
                <a:moveTo>
                  <a:pt x="0" y="0"/>
                </a:moveTo>
                <a:lnTo>
                  <a:pt x="811702" y="0"/>
                </a:lnTo>
                <a:lnTo>
                  <a:pt x="811702" y="1068029"/>
                </a:lnTo>
                <a:lnTo>
                  <a:pt x="0" y="10680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238632" y="5921465"/>
            <a:ext cx="674020" cy="972995"/>
          </a:xfrm>
          <a:custGeom>
            <a:avLst/>
            <a:gdLst/>
            <a:ahLst/>
            <a:cxnLst/>
            <a:rect r="r" b="b" t="t" l="l"/>
            <a:pathLst>
              <a:path h="972995" w="674020">
                <a:moveTo>
                  <a:pt x="0" y="0"/>
                </a:moveTo>
                <a:lnTo>
                  <a:pt x="674020" y="0"/>
                </a:lnTo>
                <a:lnTo>
                  <a:pt x="674020" y="972996"/>
                </a:lnTo>
                <a:lnTo>
                  <a:pt x="0" y="9729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838200"/>
            <a:ext cx="1289430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More System Features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47803" y="3115471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Medicine Search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62968" y="3235761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Entity Details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48567" y="7632926"/>
            <a:ext cx="406782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FDA Labels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3892" y="6369863"/>
            <a:ext cx="4262458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PubMed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00385" y="6369863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Medicine Label OCR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47803" y="3804537"/>
            <a:ext cx="4262458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Search supported medicines and open research tools.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62968" y="3924827"/>
            <a:ext cx="426245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Inspect grounded drug, gene/protein and disease metadata.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48567" y="8159976"/>
            <a:ext cx="5314401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View relevant official label sections as independent evidence.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23892" y="7389594"/>
            <a:ext cx="426245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Retrieve related scientific literature for a selected drug pair.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200385" y="7389594"/>
            <a:ext cx="426245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Read label text in the browser to help select a supported drug.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38873" y="3911883"/>
            <a:ext cx="2417579" cy="2077607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38" y="0"/>
              <a:ext cx="795524" cy="698500"/>
            </a:xfrm>
            <a:custGeom>
              <a:avLst/>
              <a:gdLst/>
              <a:ahLst/>
              <a:cxnLst/>
              <a:rect r="r" b="b" t="t" l="l"/>
              <a:pathLst>
                <a:path h="698500" w="795524">
                  <a:moveTo>
                    <a:pt x="788058" y="376929"/>
                  </a:moveTo>
                  <a:lnTo>
                    <a:pt x="617066" y="670821"/>
                  </a:lnTo>
                  <a:cubicBezTo>
                    <a:pt x="607096" y="687958"/>
                    <a:pt x="588765" y="698500"/>
                    <a:pt x="568939" y="698500"/>
                  </a:cubicBezTo>
                  <a:lnTo>
                    <a:pt x="226585" y="698500"/>
                  </a:lnTo>
                  <a:cubicBezTo>
                    <a:pt x="206759" y="698500"/>
                    <a:pt x="188428" y="687958"/>
                    <a:pt x="178458" y="670821"/>
                  </a:cubicBezTo>
                  <a:lnTo>
                    <a:pt x="7466" y="376929"/>
                  </a:lnTo>
                  <a:cubicBezTo>
                    <a:pt x="-2489" y="359819"/>
                    <a:pt x="-2489" y="338681"/>
                    <a:pt x="7466" y="321571"/>
                  </a:cubicBezTo>
                  <a:lnTo>
                    <a:pt x="178458" y="27679"/>
                  </a:lnTo>
                  <a:cubicBezTo>
                    <a:pt x="188428" y="10542"/>
                    <a:pt x="206759" y="0"/>
                    <a:pt x="226585" y="0"/>
                  </a:cubicBezTo>
                  <a:lnTo>
                    <a:pt x="568939" y="0"/>
                  </a:lnTo>
                  <a:cubicBezTo>
                    <a:pt x="588765" y="0"/>
                    <a:pt x="607096" y="10542"/>
                    <a:pt x="617066" y="27679"/>
                  </a:cubicBezTo>
                  <a:lnTo>
                    <a:pt x="788058" y="321571"/>
                  </a:lnTo>
                  <a:cubicBezTo>
                    <a:pt x="798013" y="338681"/>
                    <a:pt x="798013" y="359819"/>
                    <a:pt x="788058" y="376929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93448" y="4950686"/>
            <a:ext cx="2417579" cy="2077607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638" y="0"/>
              <a:ext cx="795524" cy="698500"/>
            </a:xfrm>
            <a:custGeom>
              <a:avLst/>
              <a:gdLst/>
              <a:ahLst/>
              <a:cxnLst/>
              <a:rect r="r" b="b" t="t" l="l"/>
              <a:pathLst>
                <a:path h="698500" w="795524">
                  <a:moveTo>
                    <a:pt x="788058" y="376929"/>
                  </a:moveTo>
                  <a:lnTo>
                    <a:pt x="617066" y="670821"/>
                  </a:lnTo>
                  <a:cubicBezTo>
                    <a:pt x="607096" y="687958"/>
                    <a:pt x="588765" y="698500"/>
                    <a:pt x="568939" y="698500"/>
                  </a:cubicBezTo>
                  <a:lnTo>
                    <a:pt x="226585" y="698500"/>
                  </a:lnTo>
                  <a:cubicBezTo>
                    <a:pt x="206759" y="698500"/>
                    <a:pt x="188428" y="687958"/>
                    <a:pt x="178458" y="670821"/>
                  </a:cubicBezTo>
                  <a:lnTo>
                    <a:pt x="7466" y="376929"/>
                  </a:lnTo>
                  <a:cubicBezTo>
                    <a:pt x="-2489" y="359819"/>
                    <a:pt x="-2489" y="338681"/>
                    <a:pt x="7466" y="321571"/>
                  </a:cubicBezTo>
                  <a:lnTo>
                    <a:pt x="178458" y="27679"/>
                  </a:lnTo>
                  <a:cubicBezTo>
                    <a:pt x="188428" y="10542"/>
                    <a:pt x="206759" y="0"/>
                    <a:pt x="226585" y="0"/>
                  </a:cubicBezTo>
                  <a:lnTo>
                    <a:pt x="568939" y="0"/>
                  </a:lnTo>
                  <a:cubicBezTo>
                    <a:pt x="588765" y="0"/>
                    <a:pt x="607096" y="10542"/>
                    <a:pt x="617066" y="27679"/>
                  </a:cubicBezTo>
                  <a:lnTo>
                    <a:pt x="788058" y="321571"/>
                  </a:lnTo>
                  <a:cubicBezTo>
                    <a:pt x="798013" y="338681"/>
                    <a:pt x="798013" y="359819"/>
                    <a:pt x="788058" y="376929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893448" y="2758779"/>
            <a:ext cx="2417579" cy="2077607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638" y="0"/>
              <a:ext cx="795524" cy="698500"/>
            </a:xfrm>
            <a:custGeom>
              <a:avLst/>
              <a:gdLst/>
              <a:ahLst/>
              <a:cxnLst/>
              <a:rect r="r" b="b" t="t" l="l"/>
              <a:pathLst>
                <a:path h="698500" w="795524">
                  <a:moveTo>
                    <a:pt x="788058" y="376929"/>
                  </a:moveTo>
                  <a:lnTo>
                    <a:pt x="617066" y="670821"/>
                  </a:lnTo>
                  <a:cubicBezTo>
                    <a:pt x="607096" y="687958"/>
                    <a:pt x="588765" y="698500"/>
                    <a:pt x="568939" y="698500"/>
                  </a:cubicBezTo>
                  <a:lnTo>
                    <a:pt x="226585" y="698500"/>
                  </a:lnTo>
                  <a:cubicBezTo>
                    <a:pt x="206759" y="698500"/>
                    <a:pt x="188428" y="687958"/>
                    <a:pt x="178458" y="670821"/>
                  </a:cubicBezTo>
                  <a:lnTo>
                    <a:pt x="7466" y="376929"/>
                  </a:lnTo>
                  <a:cubicBezTo>
                    <a:pt x="-2489" y="359819"/>
                    <a:pt x="-2489" y="338681"/>
                    <a:pt x="7466" y="321571"/>
                  </a:cubicBezTo>
                  <a:lnTo>
                    <a:pt x="178458" y="27679"/>
                  </a:lnTo>
                  <a:cubicBezTo>
                    <a:pt x="188428" y="10542"/>
                    <a:pt x="206759" y="0"/>
                    <a:pt x="226585" y="0"/>
                  </a:cubicBezTo>
                  <a:lnTo>
                    <a:pt x="568939" y="0"/>
                  </a:lnTo>
                  <a:cubicBezTo>
                    <a:pt x="588765" y="0"/>
                    <a:pt x="607096" y="10542"/>
                    <a:pt x="617066" y="27679"/>
                  </a:cubicBezTo>
                  <a:lnTo>
                    <a:pt x="788058" y="321571"/>
                  </a:lnTo>
                  <a:cubicBezTo>
                    <a:pt x="798013" y="338681"/>
                    <a:pt x="798013" y="359819"/>
                    <a:pt x="788058" y="376929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31548" y="7180693"/>
            <a:ext cx="2417579" cy="2077607"/>
            <a:chOff x="0" y="0"/>
            <a:chExt cx="8128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638" y="0"/>
              <a:ext cx="795524" cy="698500"/>
            </a:xfrm>
            <a:custGeom>
              <a:avLst/>
              <a:gdLst/>
              <a:ahLst/>
              <a:cxnLst/>
              <a:rect r="r" b="b" t="t" l="l"/>
              <a:pathLst>
                <a:path h="698500" w="795524">
                  <a:moveTo>
                    <a:pt x="788058" y="376929"/>
                  </a:moveTo>
                  <a:lnTo>
                    <a:pt x="617066" y="670821"/>
                  </a:lnTo>
                  <a:cubicBezTo>
                    <a:pt x="607096" y="687958"/>
                    <a:pt x="588765" y="698500"/>
                    <a:pt x="568939" y="698500"/>
                  </a:cubicBezTo>
                  <a:lnTo>
                    <a:pt x="226585" y="698500"/>
                  </a:lnTo>
                  <a:cubicBezTo>
                    <a:pt x="206759" y="698500"/>
                    <a:pt x="188428" y="687958"/>
                    <a:pt x="178458" y="670821"/>
                  </a:cubicBezTo>
                  <a:lnTo>
                    <a:pt x="7466" y="376929"/>
                  </a:lnTo>
                  <a:cubicBezTo>
                    <a:pt x="-2489" y="359819"/>
                    <a:pt x="-2489" y="338681"/>
                    <a:pt x="7466" y="321571"/>
                  </a:cubicBezTo>
                  <a:lnTo>
                    <a:pt x="178458" y="27679"/>
                  </a:lnTo>
                  <a:cubicBezTo>
                    <a:pt x="188428" y="10542"/>
                    <a:pt x="206759" y="0"/>
                    <a:pt x="226585" y="0"/>
                  </a:cubicBezTo>
                  <a:lnTo>
                    <a:pt x="568939" y="0"/>
                  </a:lnTo>
                  <a:cubicBezTo>
                    <a:pt x="588765" y="0"/>
                    <a:pt x="607096" y="10542"/>
                    <a:pt x="617066" y="27679"/>
                  </a:cubicBezTo>
                  <a:lnTo>
                    <a:pt x="788058" y="321571"/>
                  </a:lnTo>
                  <a:cubicBezTo>
                    <a:pt x="798013" y="338681"/>
                    <a:pt x="798013" y="359819"/>
                    <a:pt x="788058" y="376929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76973" y="6097100"/>
            <a:ext cx="2417579" cy="2077607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638" y="0"/>
              <a:ext cx="795524" cy="698500"/>
            </a:xfrm>
            <a:custGeom>
              <a:avLst/>
              <a:gdLst/>
              <a:ahLst/>
              <a:cxnLst/>
              <a:rect r="r" b="b" t="t" l="l"/>
              <a:pathLst>
                <a:path h="698500" w="795524">
                  <a:moveTo>
                    <a:pt x="788058" y="376929"/>
                  </a:moveTo>
                  <a:lnTo>
                    <a:pt x="617066" y="670821"/>
                  </a:lnTo>
                  <a:cubicBezTo>
                    <a:pt x="607096" y="687958"/>
                    <a:pt x="588765" y="698500"/>
                    <a:pt x="568939" y="698500"/>
                  </a:cubicBezTo>
                  <a:lnTo>
                    <a:pt x="226585" y="698500"/>
                  </a:lnTo>
                  <a:cubicBezTo>
                    <a:pt x="206759" y="698500"/>
                    <a:pt x="188428" y="687958"/>
                    <a:pt x="178458" y="670821"/>
                  </a:cubicBezTo>
                  <a:lnTo>
                    <a:pt x="7466" y="376929"/>
                  </a:lnTo>
                  <a:cubicBezTo>
                    <a:pt x="-2489" y="359819"/>
                    <a:pt x="-2489" y="338681"/>
                    <a:pt x="7466" y="321571"/>
                  </a:cubicBezTo>
                  <a:lnTo>
                    <a:pt x="178458" y="27679"/>
                  </a:lnTo>
                  <a:cubicBezTo>
                    <a:pt x="188428" y="10542"/>
                    <a:pt x="206759" y="0"/>
                    <a:pt x="226585" y="0"/>
                  </a:cubicBezTo>
                  <a:lnTo>
                    <a:pt x="568939" y="0"/>
                  </a:lnTo>
                  <a:cubicBezTo>
                    <a:pt x="588765" y="0"/>
                    <a:pt x="607096" y="10542"/>
                    <a:pt x="617066" y="27679"/>
                  </a:cubicBezTo>
                  <a:lnTo>
                    <a:pt x="788058" y="321571"/>
                  </a:lnTo>
                  <a:cubicBezTo>
                    <a:pt x="798013" y="338681"/>
                    <a:pt x="798013" y="359819"/>
                    <a:pt x="788058" y="376929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838200"/>
            <a:ext cx="8115300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Key Takeaways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356416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More ≠ Better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84184" y="1854625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Combined Context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7259793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No Single Winner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84184" y="7718408"/>
            <a:ext cx="36250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Research Prototype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84184" y="4786517"/>
            <a:ext cx="467511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2B2A2B"/>
                </a:solidFill>
                <a:latin typeface="Inter Bold"/>
                <a:ea typeface="Inter Bold"/>
                <a:cs typeface="Inter Bold"/>
                <a:sym typeface="Inter Bold"/>
              </a:rPr>
              <a:t>Interactive System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4045482"/>
            <a:ext cx="4262458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Adding more biomedical information does not automatically improve prediction.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84184" y="2543691"/>
            <a:ext cx="426245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G3 produced the highest average internal ranking performance.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7948858"/>
            <a:ext cx="426245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No individual relation was statistically established as the source of improvement.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84184" y="8407474"/>
            <a:ext cx="4262458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Model scores are ranking scores, not medical probabilities or treatment advice.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84184" y="5475583"/>
            <a:ext cx="426245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CHEERS makes predictions, graph context and research results easier to explore.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7880638" y="4607499"/>
            <a:ext cx="610250" cy="686375"/>
          </a:xfrm>
          <a:custGeom>
            <a:avLst/>
            <a:gdLst/>
            <a:ahLst/>
            <a:cxnLst/>
            <a:rect r="r" b="b" t="t" l="l"/>
            <a:pathLst>
              <a:path h="686375" w="610250">
                <a:moveTo>
                  <a:pt x="0" y="0"/>
                </a:moveTo>
                <a:lnTo>
                  <a:pt x="610250" y="0"/>
                </a:lnTo>
                <a:lnTo>
                  <a:pt x="610250" y="686375"/>
                </a:lnTo>
                <a:lnTo>
                  <a:pt x="0" y="686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880638" y="6722016"/>
            <a:ext cx="635670" cy="612555"/>
          </a:xfrm>
          <a:custGeom>
            <a:avLst/>
            <a:gdLst/>
            <a:ahLst/>
            <a:cxnLst/>
            <a:rect r="r" b="b" t="t" l="l"/>
            <a:pathLst>
              <a:path h="612555" w="635670">
                <a:moveTo>
                  <a:pt x="0" y="0"/>
                </a:moveTo>
                <a:lnTo>
                  <a:pt x="635670" y="0"/>
                </a:lnTo>
                <a:lnTo>
                  <a:pt x="635670" y="612554"/>
                </a:lnTo>
                <a:lnTo>
                  <a:pt x="0" y="612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751229" y="3408475"/>
            <a:ext cx="778217" cy="778217"/>
          </a:xfrm>
          <a:custGeom>
            <a:avLst/>
            <a:gdLst/>
            <a:ahLst/>
            <a:cxnLst/>
            <a:rect r="r" b="b" t="t" l="l"/>
            <a:pathLst>
              <a:path h="778217" w="778217">
                <a:moveTo>
                  <a:pt x="0" y="0"/>
                </a:moveTo>
                <a:lnTo>
                  <a:pt x="778217" y="0"/>
                </a:lnTo>
                <a:lnTo>
                  <a:pt x="778217" y="778216"/>
                </a:lnTo>
                <a:lnTo>
                  <a:pt x="0" y="778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756935" y="5652977"/>
            <a:ext cx="690605" cy="673026"/>
          </a:xfrm>
          <a:custGeom>
            <a:avLst/>
            <a:gdLst/>
            <a:ahLst/>
            <a:cxnLst/>
            <a:rect r="r" b="b" t="t" l="l"/>
            <a:pathLst>
              <a:path h="673026" w="690605">
                <a:moveTo>
                  <a:pt x="0" y="0"/>
                </a:moveTo>
                <a:lnTo>
                  <a:pt x="690605" y="0"/>
                </a:lnTo>
                <a:lnTo>
                  <a:pt x="690605" y="673026"/>
                </a:lnTo>
                <a:lnTo>
                  <a:pt x="0" y="6730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924447" y="7986958"/>
            <a:ext cx="523093" cy="598131"/>
          </a:xfrm>
          <a:custGeom>
            <a:avLst/>
            <a:gdLst/>
            <a:ahLst/>
            <a:cxnLst/>
            <a:rect r="r" b="b" t="t" l="l"/>
            <a:pathLst>
              <a:path h="598131" w="523093">
                <a:moveTo>
                  <a:pt x="0" y="0"/>
                </a:moveTo>
                <a:lnTo>
                  <a:pt x="523093" y="0"/>
                </a:lnTo>
                <a:lnTo>
                  <a:pt x="523093" y="598132"/>
                </a:lnTo>
                <a:lnTo>
                  <a:pt x="0" y="5981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17540" y="-1604339"/>
            <a:ext cx="8283519" cy="82835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81025" cap="sq">
              <a:solidFill>
                <a:srgbClr val="1F293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72788" y="3371190"/>
            <a:ext cx="11774220" cy="1177422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81025" cap="sq">
              <a:solidFill>
                <a:srgbClr val="A78BF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>
            <a:off x="8903257" y="3760563"/>
            <a:ext cx="3472725" cy="2242860"/>
          </a:xfrm>
          <a:custGeom>
            <a:avLst/>
            <a:gdLst/>
            <a:ahLst/>
            <a:cxnLst/>
            <a:rect r="r" b="b" t="t" l="l"/>
            <a:pathLst>
              <a:path h="2242860" w="3472725">
                <a:moveTo>
                  <a:pt x="0" y="2242861"/>
                </a:moveTo>
                <a:quadBezTo>
                  <a:pt x="1291444" y="432543"/>
                  <a:pt x="3472725" y="0"/>
                </a:quadBezTo>
              </a:path>
            </a:pathLst>
          </a:custGeom>
          <a:ln cap="rnd" w="581025">
            <a:gradFill>
              <a:gsLst>
                <a:gs pos="0">
                  <a:srgbClr val="6D28D9">
                    <a:alpha val="100000"/>
                  </a:srgbClr>
                </a:gs>
                <a:gs pos="100000">
                  <a:srgbClr val="A78BFA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>
            <a:off x="7036304" y="6679180"/>
            <a:ext cx="536483" cy="2579120"/>
          </a:xfrm>
          <a:custGeom>
            <a:avLst/>
            <a:gdLst/>
            <a:ahLst/>
            <a:cxnLst/>
            <a:rect r="r" b="b" t="t" l="l"/>
            <a:pathLst>
              <a:path h="2579120" w="536483">
                <a:moveTo>
                  <a:pt x="0" y="2579120"/>
                </a:moveTo>
                <a:quadBezTo>
                  <a:pt x="17509" y="1113901"/>
                  <a:pt x="536484" y="0"/>
                </a:quadBezTo>
              </a:path>
            </a:pathLst>
          </a:custGeom>
          <a:ln cap="rnd" w="581025">
            <a:solidFill>
              <a:srgbClr val="A78B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1125689"/>
            <a:ext cx="10881807" cy="244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36"/>
              </a:lnSpc>
              <a:spcBef>
                <a:spcPct val="0"/>
              </a:spcBef>
            </a:pPr>
            <a:r>
              <a:rPr lang="en-US" b="true" sz="13526" strike="noStrike" u="none">
                <a:solidFill>
                  <a:srgbClr val="1F2937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8257" y="4616165"/>
            <a:ext cx="460293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6D28D9"/>
                </a:solidFill>
                <a:latin typeface="Inter Bold"/>
                <a:ea typeface="Inter Bold"/>
                <a:cs typeface="Inter Bold"/>
                <a:sym typeface="Inter Bold"/>
              </a:rPr>
              <a:t>Team CHEERS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8257" y="5362381"/>
            <a:ext cx="426245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rPr>
              <a:t>Pusan National University Department of Computer Science and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DAHVtbECwKs</dc:identifier>
  <dcterms:modified xsi:type="dcterms:W3CDTF">2011-08-01T06:04:30Z</dcterms:modified>
  <cp:revision>1</cp:revision>
  <dc:title>graduation project</dc:title>
</cp:coreProperties>
</file>